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3" r:id="rId1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gner Ramos Toth" userId="04f8a0f121f88dd9" providerId="LiveId" clId="{28693248-183D-480C-A038-91B70F5277C9}"/>
    <pc:docChg chg="custSel modSld">
      <pc:chgData name="Wagner Ramos Toth" userId="04f8a0f121f88dd9" providerId="LiveId" clId="{28693248-183D-480C-A038-91B70F5277C9}" dt="2026-03-10T23:25:21.714" v="0" actId="478"/>
      <pc:docMkLst>
        <pc:docMk/>
      </pc:docMkLst>
      <pc:sldChg chg="delSp mod">
        <pc:chgData name="Wagner Ramos Toth" userId="04f8a0f121f88dd9" providerId="LiveId" clId="{28693248-183D-480C-A038-91B70F5277C9}" dt="2026-03-10T23:25:21.714" v="0" actId="478"/>
        <pc:sldMkLst>
          <pc:docMk/>
          <pc:sldMk cId="0" sldId="256"/>
        </pc:sldMkLst>
        <pc:spChg chg="del">
          <ac:chgData name="Wagner Ramos Toth" userId="04f8a0f121f88dd9" providerId="LiveId" clId="{28693248-183D-480C-A038-91B70F5277C9}" dt="2026-03-10T23:25:21.714" v="0" actId="478"/>
          <ac:spMkLst>
            <pc:docMk/>
            <pc:sldMk cId="0" sldId="256"/>
            <ac:spMk id="1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182880"/>
            <a:ext cx="128016" cy="12801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645919" y="182880"/>
            <a:ext cx="128016" cy="12801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926079" y="182880"/>
            <a:ext cx="128016" cy="12801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206240" y="182880"/>
            <a:ext cx="128016" cy="12801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0" y="182880"/>
            <a:ext cx="128016" cy="12801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766560" y="182880"/>
            <a:ext cx="128016" cy="12801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046719" y="182880"/>
            <a:ext cx="128016" cy="12801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326880" y="182880"/>
            <a:ext cx="128016" cy="12801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607040" y="182880"/>
            <a:ext cx="128016" cy="12801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Bancos de Dados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508760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CD34D"/>
                </a:solidFill>
                <a:latin typeface="Calibri"/>
              </a:rPr>
              <a:t>Orientado a Objetos  &amp;  Orientado a Grafos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58200" y="685800"/>
            <a:ext cx="1005840" cy="1005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985248" y="475488"/>
            <a:ext cx="694944" cy="69494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0442448" y="1572768"/>
            <a:ext cx="877824" cy="87782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006840" y="2240279"/>
            <a:ext cx="640080" cy="640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802368" y="3127248"/>
            <a:ext cx="512064" cy="5120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321040" y="3383279"/>
            <a:ext cx="731520" cy="7315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0927080" y="3063240"/>
            <a:ext cx="457200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5943600"/>
            <a:ext cx="2377440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108960" y="5943600"/>
            <a:ext cx="2377440" cy="548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760720" y="5943600"/>
            <a:ext cx="2377440" cy="548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412480" y="5943600"/>
            <a:ext cx="2377440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  <a:latin typeface="Calibri"/>
              </a:rPr>
              <a:t>Bloco 1  —  Por que surgiu algo alem do SQL?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22960"/>
            <a:ext cx="5486400" cy="5669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CA5A5"/>
                </a:solidFill>
                <a:latin typeface="Calibri"/>
              </a:rPr>
              <a:t>O Problema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256032" cy="2560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371600"/>
            <a:ext cx="4754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  <a:latin typeface="Calibri"/>
              </a:rPr>
              <a:t>Objetos em POO nao mapeiam bem em tabelas relacionais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21992"/>
            <a:ext cx="256032" cy="2560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2176272"/>
            <a:ext cx="4754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  <a:latin typeface="Calibri"/>
              </a:rPr>
              <a:t>Relacionamentos complexos viram JOINs gigantes e lentos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026664"/>
            <a:ext cx="256032" cy="2560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8" y="2980944"/>
            <a:ext cx="4754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  <a:latin typeface="Calibri"/>
              </a:rPr>
              <a:t>Dados semi-estruturados ficam 'espremidos' nas colunas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831336"/>
            <a:ext cx="256032" cy="2560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8" y="3785616"/>
            <a:ext cx="4754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  <a:latin typeface="Calibri"/>
              </a:rPr>
              <a:t>Grafos sociais com milhoes de nos sao impraticaveis em SQL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636008"/>
            <a:ext cx="256032" cy="2560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8" y="4590288"/>
            <a:ext cx="4754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  <a:latin typeface="Calibri"/>
              </a:rPr>
              <a:t>Big Data exige variedade de formatos e estruturas flexiveis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822960"/>
            <a:ext cx="5669280" cy="5669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0" y="8686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86EFAC"/>
                </a:solidFill>
                <a:latin typeface="Calibri"/>
              </a:rPr>
              <a:t>A Solucao — NoSQL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1426464"/>
            <a:ext cx="5212080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0" y="1426464"/>
            <a:ext cx="91440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0" y="1463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BD Orientado a Objetos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1828800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1F5F9"/>
                </a:solidFill>
                <a:latin typeface="Calibri"/>
              </a:rPr>
              <a:t>Armazena objetos diretamente, com heranca e metodos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2505456"/>
            <a:ext cx="5212080" cy="914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0" y="2505456"/>
            <a:ext cx="91440" cy="914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80" y="254203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BD Orientado a Grafos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2907791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1F5F9"/>
                </a:solidFill>
                <a:latin typeface="Calibri"/>
              </a:rPr>
              <a:t>Foca em nos, arestas e relacionamentos nativos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3584448"/>
            <a:ext cx="5212080" cy="914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00800" y="3584448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83680" y="3621024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BD de Documentos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3986783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1F5F9"/>
                </a:solidFill>
                <a:latin typeface="Calibri"/>
              </a:rPr>
              <a:t>JSON/BSON flexivel para dados semi-estruturados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4663440"/>
            <a:ext cx="5212080" cy="9144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400800" y="4663440"/>
            <a:ext cx="91440" cy="9144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83680" y="4700016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BD Colunar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5065776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1F5F9"/>
                </a:solidFill>
                <a:latin typeface="Calibri"/>
              </a:rPr>
              <a:t>Otimizado para leitura analitica e Big Data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8" grpId="0"/>
      <p:bldP spid="9" grpId="0" animBg="1"/>
      <p:bldP spid="10" grpId="0"/>
      <p:bldP spid="11" grpId="0" animBg="1"/>
      <p:bldP spid="12" grpId="0"/>
      <p:bldP spid="13" grpId="0" animBg="1"/>
      <p:bldP spid="14" grpId="0"/>
      <p:bldP spid="15" grpId="0" animBg="1"/>
      <p:bldP spid="16" grpId="0"/>
      <p:bldP spid="18" grpId="0"/>
      <p:bldP spid="19" grpId="0" animBg="1"/>
      <p:bldP spid="20" grpId="0" animBg="1"/>
      <p:bldP spid="21" grpId="0"/>
      <p:bldP spid="22" grpId="0"/>
      <p:bldP spid="23" grpId="0" animBg="1"/>
      <p:bldP spid="24" grpId="0" animBg="1"/>
      <p:bldP spid="25" grpId="0"/>
      <p:bldP spid="26" grpId="0"/>
      <p:bldP spid="27" grpId="0" animBg="1"/>
      <p:bldP spid="28" grpId="0" animBg="1"/>
      <p:bldP spid="29" grpId="0"/>
      <p:bldP spid="30" grpId="0"/>
      <p:bldP spid="31" grpId="0" animBg="1"/>
      <p:bldP spid="32" grpId="0" animBg="1"/>
      <p:bldP spid="33" grpId="0"/>
      <p:bldP spid="3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Banco de Dados Orientado a Objetos (BDOO)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1B2A"/>
                </a:solidFill>
                <a:latin typeface="Calibri"/>
              </a:rPr>
              <a:t>Analogia: A Caixa de Brinquedos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61872"/>
            <a:ext cx="11612880" cy="1554480"/>
          </a:xfrm>
          <a:prstGeom prst="rect">
            <a:avLst/>
          </a:prstGeom>
          <a:solidFill>
            <a:srgbClr val="DB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261872"/>
            <a:ext cx="91440" cy="1554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111556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No banco relacional:  voce desmonta cada brinquedo, guarda cada peca numa gaveta separada e precisa</a:t>
            </a:r>
          </a:p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montar tudo de novo toda vez que quiser usar.</a:t>
            </a:r>
          </a:p>
          <a:p>
            <a:pPr algn="l"/>
            <a:endParaRPr sz="1300" b="0">
              <a:solidFill>
                <a:srgbClr val="475569"/>
              </a:solidFill>
              <a:latin typeface="Calibri"/>
            </a:endParaRPr>
          </a:p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No banco OO:  voce guarda o brinquedo INTEIRO — com suas cores, sons e funcoes — exatamente como ele e!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97180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 err="1">
                <a:solidFill>
                  <a:srgbClr val="2563EB"/>
                </a:solidFill>
                <a:latin typeface="Calibri"/>
              </a:rPr>
              <a:t>Definicao</a:t>
            </a:r>
            <a:endParaRPr sz="1600" b="1" i="0" dirty="0">
              <a:solidFill>
                <a:srgbClr val="2563EB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5760" y="3401568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Um Banco de Dados Orientado a Objetos (BDOO) armazena dados como objetos — da mesma forma que a Programacao</a:t>
            </a:r>
          </a:p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Orientada a Objetos (POO). Os dados ficam encapsulados com seus comportamentos (metodos), podem herdar de</a:t>
            </a:r>
          </a:p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outros objetos e se relacionam por referencias diretas, sem a necessidade de JOINs.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480560"/>
            <a:ext cx="3566160" cy="43891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4480560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Objeto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4480560"/>
            <a:ext cx="3566160" cy="43891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97680" y="4480560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Classe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4480560"/>
            <a:ext cx="3566160" cy="43891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0" y="4480560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Heranca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029200"/>
            <a:ext cx="3566160" cy="43891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5029200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Encapsulamento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0" y="5029200"/>
            <a:ext cx="3566160" cy="43891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297680" y="5029200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Identidade (OID)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5029200"/>
            <a:ext cx="3566160" cy="43891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0" y="5029200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Metodos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 animBg="1"/>
      <p:bldP spid="12" grpId="0"/>
      <p:bldP spid="13" grpId="0" animBg="1"/>
      <p:bldP spid="14" grpId="0"/>
      <p:bldP spid="15" grpId="0" animBg="1"/>
      <p:bldP spid="16" grpId="0"/>
      <p:bldP spid="17" grpId="0" animBg="1"/>
      <p:bldP spid="18" grpId="0"/>
      <p:bldP spid="19" grpId="0" animBg="1"/>
      <p:bldP spid="20" grpId="0"/>
      <p:bldP spid="21" grpId="0" animBg="1"/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Conceitos-Chave do BDOO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04672"/>
            <a:ext cx="3657600" cy="2468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804672"/>
            <a:ext cx="3657600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79" y="969264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 err="1">
                <a:solidFill>
                  <a:srgbClr val="2563EB"/>
                </a:solidFill>
                <a:latin typeface="Calibri"/>
              </a:rPr>
              <a:t>Objeto</a:t>
            </a:r>
            <a:endParaRPr sz="1500" b="1" i="0" dirty="0">
              <a:solidFill>
                <a:srgbClr val="2563EB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11479" y="1426464"/>
            <a:ext cx="33832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Unidade basica. Tem atributos (dados) e metodos (comportamentos). Ex: Carro com cor, modelo e o metodo acelerar().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59" y="804672"/>
            <a:ext cx="3657600" cy="2468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51959" y="804672"/>
            <a:ext cx="365760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89120" y="969264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>
                <a:solidFill>
                  <a:srgbClr val="7C3AED"/>
                </a:solidFill>
                <a:latin typeface="Calibri"/>
              </a:rPr>
              <a:t>Classe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426464"/>
            <a:ext cx="33832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Molde para criar objetos. Define quais atributos e metodos os objetos terao. Ex: a classe Carro define que todo carro tem cor e motor.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804672"/>
            <a:ext cx="3657600" cy="2468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29600" y="804672"/>
            <a:ext cx="365760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66760" y="969264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 err="1">
                <a:solidFill>
                  <a:srgbClr val="0D9488"/>
                </a:solidFill>
                <a:latin typeface="Calibri"/>
              </a:rPr>
              <a:t>Heranca</a:t>
            </a:r>
            <a:endParaRPr sz="1500" b="1" i="0" dirty="0">
              <a:solidFill>
                <a:srgbClr val="0D9488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366760" y="1426464"/>
            <a:ext cx="33832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Uma classe filha herda tudo da classe pai. Ex: CarroEletrico herda de Carro e adiciona capacidadeBateria.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547872"/>
            <a:ext cx="3657600" cy="2468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74320" y="3547872"/>
            <a:ext cx="3657600" cy="914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79" y="3712463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 err="1">
                <a:solidFill>
                  <a:srgbClr val="EA580C"/>
                </a:solidFill>
                <a:latin typeface="Calibri"/>
              </a:rPr>
              <a:t>Encapsulamento</a:t>
            </a:r>
            <a:endParaRPr sz="1500" b="1" i="0" dirty="0">
              <a:solidFill>
                <a:srgbClr val="EA580C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11479" y="4169663"/>
            <a:ext cx="33832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Dados protegidos dentro do objeto. Voce acessa so pelo que o objeto permite — como um cofre com interface propria.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59" y="3547872"/>
            <a:ext cx="3657600" cy="2468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251959" y="3547872"/>
            <a:ext cx="365760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89120" y="3712463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 err="1">
                <a:solidFill>
                  <a:srgbClr val="F59E0B"/>
                </a:solidFill>
                <a:latin typeface="Calibri"/>
              </a:rPr>
              <a:t>Identidade</a:t>
            </a:r>
            <a:r>
              <a:rPr sz="1500" b="1" i="0" dirty="0">
                <a:solidFill>
                  <a:srgbClr val="F59E0B"/>
                </a:solidFill>
                <a:latin typeface="Calibri"/>
              </a:rPr>
              <a:t> (OID)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4169663"/>
            <a:ext cx="33832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Cada objeto tem um ID unico gerado automaticamente, independente de seus valores. Dois objetos iguais ainda sao distintos!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3547872"/>
            <a:ext cx="3657600" cy="2468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229600" y="3547872"/>
            <a:ext cx="3657600" cy="91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66760" y="3712463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 err="1">
                <a:solidFill>
                  <a:srgbClr val="16A34A"/>
                </a:solidFill>
                <a:latin typeface="Calibri"/>
              </a:rPr>
              <a:t>Referencias</a:t>
            </a:r>
            <a:endParaRPr sz="1500" b="1" i="0" dirty="0">
              <a:solidFill>
                <a:srgbClr val="16A34A"/>
              </a:solidFill>
              <a:latin typeface="Calibr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366760" y="4169663"/>
            <a:ext cx="33832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Objetos se ligam diretamente — sem JOIN! Um Pedido aponta para o objeto Cliente real, sem copiar dados.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1" grpId="0"/>
      <p:bldP spid="12" grpId="0"/>
      <p:bldP spid="15" grpId="0"/>
      <p:bldP spid="16" grpId="0"/>
      <p:bldP spid="19" grpId="0"/>
      <p:bldP spid="20" grpId="0"/>
      <p:bldP spid="23" grpId="0"/>
      <p:bldP spid="24" grpId="0"/>
      <p:bldP spid="27" grpId="0"/>
      <p:bldP spid="2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Exemplo Pratico: Sistema de Biblioteca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804672"/>
            <a:ext cx="3931920" cy="1828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0" y="804672"/>
            <a:ext cx="3931920" cy="438912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0" y="804672"/>
            <a:ext cx="3931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Classe: Pessoa  (PAI)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1298448"/>
            <a:ext cx="3657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D1B2A"/>
                </a:solidFill>
                <a:latin typeface="Courier New"/>
              </a:rPr>
              <a:t>- nome: String</a:t>
            </a:r>
          </a:p>
          <a:p>
            <a:pPr algn="l"/>
            <a:r>
              <a:rPr sz="1200" b="0">
                <a:solidFill>
                  <a:srgbClr val="0D1B2A"/>
                </a:solidFill>
                <a:latin typeface="Courier New"/>
              </a:rPr>
              <a:t>- cpf: String</a:t>
            </a:r>
          </a:p>
          <a:p>
            <a:pPr algn="l"/>
            <a:r>
              <a:rPr sz="1200" b="0">
                <a:solidFill>
                  <a:srgbClr val="0D1B2A"/>
                </a:solidFill>
                <a:latin typeface="Courier New"/>
              </a:rPr>
              <a:t>+ apresentar(): void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2633472"/>
            <a:ext cx="9144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0" y="2633472"/>
            <a:ext cx="9144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06240" y="2633472"/>
            <a:ext cx="320040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3200400"/>
            <a:ext cx="5029200" cy="2194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65760" y="3200400"/>
            <a:ext cx="5029200" cy="43891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320040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Classe: Leitor  (herda Pessoa)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694176"/>
            <a:ext cx="47548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Courier New"/>
              </a:rPr>
              <a:t>- matricula: String</a:t>
            </a:r>
          </a:p>
          <a:p>
            <a:pPr algn="l"/>
            <a:r>
              <a:rPr sz="1200" b="0">
                <a:solidFill>
                  <a:srgbClr val="F1F5F9"/>
                </a:solidFill>
                <a:latin typeface="Courier New"/>
              </a:rPr>
              <a:t>- livrosEmprestados: List&lt;Livro&gt;</a:t>
            </a:r>
          </a:p>
          <a:p>
            <a:pPr algn="l"/>
            <a:r>
              <a:rPr sz="1200" b="0">
                <a:solidFill>
                  <a:srgbClr val="F1F5F9"/>
                </a:solidFill>
                <a:latin typeface="Courier New"/>
              </a:rPr>
              <a:t>+ pegarEmprestado(Livro)</a:t>
            </a:r>
          </a:p>
          <a:p>
            <a:pPr algn="l"/>
            <a:r>
              <a:rPr sz="1200" b="0">
                <a:solidFill>
                  <a:srgbClr val="F1F5F9"/>
                </a:solidFill>
                <a:latin typeface="Courier New"/>
              </a:rPr>
              <a:t>+ devolver(Livro)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75120" y="3200400"/>
            <a:ext cx="5029200" cy="21945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675120" y="3200400"/>
            <a:ext cx="5029200" cy="43891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75120" y="320040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Classe: Funcionario  (herda Pessoa)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3694176"/>
            <a:ext cx="47548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Courier New"/>
              </a:rPr>
              <a:t>- cargo: String</a:t>
            </a:r>
          </a:p>
          <a:p>
            <a:pPr algn="l"/>
            <a:r>
              <a:rPr sz="1200" b="0">
                <a:solidFill>
                  <a:srgbClr val="F1F5F9"/>
                </a:solidFill>
                <a:latin typeface="Courier New"/>
              </a:rPr>
              <a:t>- salario: double</a:t>
            </a:r>
          </a:p>
          <a:p>
            <a:pPr algn="l"/>
            <a:r>
              <a:rPr sz="1200" b="0">
                <a:solidFill>
                  <a:srgbClr val="F1F5F9"/>
                </a:solidFill>
                <a:latin typeface="Courier New"/>
              </a:rPr>
              <a:t>+ catalogar(Livro): void</a:t>
            </a:r>
          </a:p>
          <a:p>
            <a:pPr algn="l"/>
            <a:r>
              <a:rPr sz="1200" b="0">
                <a:solidFill>
                  <a:srgbClr val="F1F5F9"/>
                </a:solidFill>
                <a:latin typeface="Courier New"/>
              </a:rPr>
              <a:t>+ emitirRelatorio(): void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0" y="5623560"/>
            <a:ext cx="3931920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14800" y="562356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Calibri"/>
              </a:rPr>
              <a:t>Classe: Livro  (cada objeto tem OID unico)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1">
                <a:solidFill>
                  <a:srgbClr val="2563EB"/>
                </a:solidFill>
                <a:latin typeface="Calibri"/>
              </a:rPr>
              <a:t>Leitor e Funcionario sao Pessoas — reutilizam nome e cpf automaticamente via heranca!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BDOO — Pontos Positivos e Negativos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04672"/>
            <a:ext cx="5669280" cy="5715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804672"/>
            <a:ext cx="5669280" cy="457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80467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Vantagens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256032" cy="2560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371600"/>
            <a:ext cx="4937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  <a:latin typeface="Calibri"/>
              </a:rPr>
              <a:t>Elimina o 'impedance mismatch': sem conversao objeto para tabela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58568"/>
            <a:ext cx="256032" cy="2560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212848"/>
            <a:ext cx="4937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  <a:latin typeface="Calibri"/>
              </a:rPr>
              <a:t>Armazena tipos complexos (audio, video, imagem) nativamente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099816"/>
            <a:ext cx="256032" cy="2560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3054096"/>
            <a:ext cx="4937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  <a:latin typeface="Calibri"/>
              </a:rPr>
              <a:t>Reutilizacao de codigo via heranca no proprio banco de dados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941064"/>
            <a:ext cx="256032" cy="2560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3895344"/>
            <a:ext cx="4937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  <a:latin typeface="Calibri"/>
              </a:rPr>
              <a:t>Consultas mais simples para dados hierarquicos e complexos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782312"/>
            <a:ext cx="256032" cy="2560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4736592"/>
            <a:ext cx="4937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  <a:latin typeface="Calibri"/>
              </a:rPr>
              <a:t>Integridade de objetos complexos e naturalmente mantida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804672"/>
            <a:ext cx="5486400" cy="5715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0" y="804672"/>
            <a:ext cx="5486400" cy="457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2240" y="80467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Desvantagens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1417320"/>
            <a:ext cx="256032" cy="2560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0" y="1371600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  <a:latin typeface="Calibri"/>
              </a:rPr>
              <a:t>Menor adocao e ecossistema menor que bancos relacionais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2258568"/>
            <a:ext cx="256032" cy="2560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58000" y="2212848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  <a:latin typeface="Calibri"/>
              </a:rPr>
              <a:t>Curva de aprendizado mais elevada para as equipes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3099816"/>
            <a:ext cx="256032" cy="2560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0" y="3054096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  <a:latin typeface="Calibri"/>
              </a:rPr>
              <a:t>Ferramentas de BI e relatorios menos maduras e disponiveis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3941064"/>
            <a:ext cx="256032" cy="2560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58000" y="3895344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  <a:latin typeface="Calibri"/>
              </a:rPr>
              <a:t>Sem padrao universal de consulta (como o SQL no relacional)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2240" y="4782312"/>
            <a:ext cx="256032" cy="2560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58000" y="4736592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  <a:latin typeface="Calibri"/>
              </a:rPr>
              <a:t>Consultas ad-hoc podem ser mais complexas de escrever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0" grpId="0" animBg="1"/>
      <p:bldP spid="11" grpId="0"/>
      <p:bldP spid="12" grpId="0" animBg="1"/>
      <p:bldP spid="13" grpId="0"/>
      <p:bldP spid="14" grpId="0" animBg="1"/>
      <p:bldP spid="15" grpId="0"/>
      <p:bldP spid="16" grpId="0" animBg="1"/>
      <p:bldP spid="17" grpId="0"/>
      <p:bldP spid="21" grpId="0" animBg="1"/>
      <p:bldP spid="22" grpId="0"/>
      <p:bldP spid="23" grpId="0" animBg="1"/>
      <p:bldP spid="24" grpId="0"/>
      <p:bldP spid="25" grpId="0" animBg="1"/>
      <p:bldP spid="26" grpId="0"/>
      <p:bldP spid="27" grpId="0" animBg="1"/>
      <p:bldP spid="28" grpId="0"/>
      <p:bldP spid="29" grpId="0" animBg="1"/>
      <p:bldP spid="3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Sistemas BDOO mais Conhecidos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22960"/>
            <a:ext cx="11612880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822960"/>
            <a:ext cx="91440" cy="89611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601200" y="1024128"/>
            <a:ext cx="210312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0" y="1024128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Java / .NET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89611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563EB"/>
                </a:solidFill>
                <a:latin typeface="Calibri"/>
              </a:rPr>
              <a:t>db4o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98448"/>
            <a:ext cx="8869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Banco open source para Java e .NET. Muito usado em apps embarcados e mobile. Persiste objetos Java diretamente sem mapeamento.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847088"/>
            <a:ext cx="11612880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4320" y="1847088"/>
            <a:ext cx="91440" cy="89611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601200" y="2048256"/>
            <a:ext cx="2103120" cy="3840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0" y="2048256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Enterprise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1920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C3AED"/>
                </a:solidFill>
                <a:latin typeface="Calibri"/>
              </a:rPr>
              <a:t>ObjectStore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322576"/>
            <a:ext cx="8869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Um dos primeiros BDOO comerciais. Muito robusto, amplamente usado em telecomunicacoes e engenharia de sistemas.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871216"/>
            <a:ext cx="11612880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74320" y="2871216"/>
            <a:ext cx="91440" cy="89611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601200" y="3072384"/>
            <a:ext cx="2103120" cy="3840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0" y="3072384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High-Performance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9443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9488"/>
                </a:solidFill>
                <a:latin typeface="Calibri"/>
              </a:rPr>
              <a:t>Versant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346704"/>
            <a:ext cx="8869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Alta performance em tempo real. Usado em sistemas financeiros, telecomunicacoes e defesa.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895344"/>
            <a:ext cx="11612880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74320" y="3895344"/>
            <a:ext cx="91440" cy="89611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601200" y="4096512"/>
            <a:ext cx="2103120" cy="38404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01200" y="4096512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Python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3968496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ZODB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370832"/>
            <a:ext cx="8869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Banco nativo para Python. Persiste objetos Python de forma transparente. Muito usado no framework Zope e Plone.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4919472"/>
            <a:ext cx="11612880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74320" y="4919472"/>
            <a:ext cx="91440" cy="89611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601200" y="5120640"/>
            <a:ext cx="2103120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601200" y="512064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Saude / ERP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499262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  <a:latin typeface="Calibri"/>
              </a:rPr>
              <a:t>Caché (InterSystems)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5394960"/>
            <a:ext cx="8869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SGBD hibrido: combina OO com relacional. Amplamente usado em sistemas hospitalares e ERP de grande porte.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0" y="-1371600"/>
            <a:ext cx="7772400" cy="7772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5EEAD4"/>
                </a:solidFill>
                <a:latin typeface="Calibri"/>
              </a:rPr>
              <a:t>Bloco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Calibri"/>
              </a:rPr>
              <a:t>Banco de Dados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146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5EEAD4"/>
                </a:solidFill>
                <a:latin typeface="Calibri"/>
              </a:rPr>
              <a:t>Orientado a Grafos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49039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F59E0B"/>
                </a:solidFill>
                <a:latin typeface="Calibri"/>
              </a:rPr>
              <a:t>"Tudo e conexao"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5074920"/>
            <a:ext cx="548640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6080" y="5074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754880" y="4709160"/>
            <a:ext cx="548640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0" y="47091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583680" y="5166360"/>
            <a:ext cx="548640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51663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412480" y="4800600"/>
            <a:ext cx="548640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0" y="4800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784080" y="5074920"/>
            <a:ext cx="548640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784080" y="5074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" y="-4572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O que e um Grafo? (A teoria por tras)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04672"/>
            <a:ext cx="5486400" cy="2926080"/>
          </a:xfrm>
          <a:prstGeom prst="rect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804672"/>
            <a:ext cx="91440" cy="29260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85039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9488"/>
                </a:solidFill>
                <a:latin typeface="Calibri"/>
              </a:rPr>
              <a:t>Definicao Matematica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98448"/>
            <a:ext cx="5120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1B2A"/>
                </a:solidFill>
                <a:latin typeface="Calibri"/>
              </a:rPr>
              <a:t>Um grafo G = (V, E) e composto por:</a:t>
            </a:r>
          </a:p>
          <a:p>
            <a:pPr algn="l"/>
            <a:endParaRPr sz="1300" b="0">
              <a:solidFill>
                <a:srgbClr val="0D1B2A"/>
              </a:solidFill>
              <a:latin typeface="Calibri"/>
            </a:endParaRPr>
          </a:p>
          <a:p>
            <a:pPr algn="l"/>
            <a:r>
              <a:rPr sz="1300" b="0">
                <a:solidFill>
                  <a:srgbClr val="0D1B2A"/>
                </a:solidFill>
                <a:latin typeface="Calibri"/>
              </a:rPr>
              <a:t>V = Vertices (nos) — representam entidades</a:t>
            </a:r>
          </a:p>
          <a:p>
            <a:pPr algn="l"/>
            <a:r>
              <a:rPr sz="1300" b="0">
                <a:solidFill>
                  <a:srgbClr val="0D1B2A"/>
                </a:solidFill>
                <a:latin typeface="Calibri"/>
              </a:rPr>
              <a:t>E = Arestas — representam conexoes entre nos</a:t>
            </a:r>
          </a:p>
          <a:p>
            <a:pPr algn="l"/>
            <a:endParaRPr sz="1300" b="0">
              <a:solidFill>
                <a:srgbClr val="0D1B2A"/>
              </a:solidFill>
              <a:latin typeface="Calibri"/>
            </a:endParaRPr>
          </a:p>
          <a:p>
            <a:pPr algn="l"/>
            <a:r>
              <a:rPr sz="1300" b="0">
                <a:solidFill>
                  <a:srgbClr val="0D1B2A"/>
                </a:solidFill>
                <a:latin typeface="Calibri"/>
              </a:rPr>
              <a:t>As arestas podem ter direcao (grafo dirigido) e peso</a:t>
            </a:r>
          </a:p>
          <a:p>
            <a:pPr algn="l"/>
            <a:r>
              <a:rPr sz="1300" b="0">
                <a:solidFill>
                  <a:srgbClr val="0D1B2A"/>
                </a:solidFill>
                <a:latin typeface="Calibri"/>
              </a:rPr>
              <a:t>(custo de traversal, ex: distancia em km).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85039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9488"/>
                </a:solidFill>
                <a:latin typeface="Calibri"/>
              </a:rPr>
              <a:t>Exemplo Visual — Rede Social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68689" y="1362589"/>
            <a:ext cx="822960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31529" y="2007241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Ana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62131" y="1364708"/>
            <a:ext cx="822960" cy="548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224971" y="195906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Bob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9700" y="2279108"/>
            <a:ext cx="822960" cy="548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62540" y="287346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Carol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31529" y="2971138"/>
            <a:ext cx="822960" cy="5486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40089" y="355701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0D1B2A"/>
                </a:solidFill>
                <a:latin typeface="Calibri"/>
              </a:rPr>
              <a:t>Dio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56491" y="2893745"/>
            <a:ext cx="822960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851699" y="3504405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0D1B2A"/>
                </a:solidFill>
                <a:latin typeface="Calibri"/>
              </a:rPr>
              <a:t>Eve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7691" y="140108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 dirty="0">
                <a:solidFill>
                  <a:srgbClr val="475569"/>
                </a:solidFill>
                <a:latin typeface="Calibri"/>
              </a:rPr>
              <a:t>AMIGA_DE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99700" y="2015115"/>
            <a:ext cx="64206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 dirty="0">
                <a:solidFill>
                  <a:srgbClr val="475569"/>
                </a:solidFill>
                <a:latin typeface="Calibri"/>
              </a:rPr>
              <a:t>COLEGA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82071" y="1977217"/>
            <a:ext cx="55692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 dirty="0">
                <a:solidFill>
                  <a:srgbClr val="475569"/>
                </a:solidFill>
                <a:latin typeface="Calibri"/>
              </a:rPr>
              <a:t>AMIGO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16511" y="2220048"/>
            <a:ext cx="5486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 dirty="0">
                <a:solidFill>
                  <a:srgbClr val="475569"/>
                </a:solidFill>
                <a:latin typeface="Calibri"/>
              </a:rPr>
              <a:t>SEGUE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922776"/>
            <a:ext cx="11612880" cy="2660904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0040" y="3975387"/>
            <a:ext cx="178043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 err="1">
                <a:solidFill>
                  <a:srgbClr val="F59E0B"/>
                </a:solidFill>
                <a:latin typeface="Calibri"/>
              </a:rPr>
              <a:t>Grafos</a:t>
            </a:r>
            <a:r>
              <a:rPr sz="1500" b="1" i="0" dirty="0">
                <a:solidFill>
                  <a:srgbClr val="F59E0B"/>
                </a:solidFill>
                <a:latin typeface="Calibri"/>
              </a:rPr>
              <a:t> </a:t>
            </a:r>
            <a:r>
              <a:rPr sz="1500" b="1" i="0" dirty="0" err="1">
                <a:solidFill>
                  <a:srgbClr val="F59E0B"/>
                </a:solidFill>
                <a:latin typeface="Calibri"/>
              </a:rPr>
              <a:t>na</a:t>
            </a:r>
            <a:r>
              <a:rPr sz="1500" b="1" i="0" dirty="0">
                <a:solidFill>
                  <a:srgbClr val="F59E0B"/>
                </a:solidFill>
                <a:latin typeface="Calibri"/>
              </a:rPr>
              <a:t> </a:t>
            </a:r>
            <a:r>
              <a:rPr sz="1500" b="1" i="0" dirty="0" err="1">
                <a:solidFill>
                  <a:srgbClr val="F59E0B"/>
                </a:solidFill>
                <a:latin typeface="Calibri"/>
              </a:rPr>
              <a:t>vida</a:t>
            </a:r>
            <a:r>
              <a:rPr sz="1500" b="1" i="0" dirty="0">
                <a:solidFill>
                  <a:srgbClr val="F59E0B"/>
                </a:solidFill>
                <a:latin typeface="Calibri"/>
              </a:rPr>
              <a:t> real: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46227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5EEAD4"/>
                </a:solidFill>
                <a:latin typeface="Calibri"/>
              </a:rPr>
              <a:t>Redes </a:t>
            </a:r>
            <a:r>
              <a:rPr sz="1300" b="1" i="0" dirty="0" err="1">
                <a:solidFill>
                  <a:srgbClr val="5EEAD4"/>
                </a:solidFill>
                <a:latin typeface="Calibri"/>
              </a:rPr>
              <a:t>Sociais</a:t>
            </a:r>
            <a:endParaRPr sz="1300" b="1" i="0" dirty="0">
              <a:solidFill>
                <a:srgbClr val="5EEAD4"/>
              </a:solidFill>
              <a:latin typeface="Calibr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57200" y="4828032"/>
            <a:ext cx="54864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 err="1">
                <a:solidFill>
                  <a:srgbClr val="94A3B8"/>
                </a:solidFill>
                <a:latin typeface="Calibri"/>
              </a:rPr>
              <a:t>Usuarios</a:t>
            </a:r>
            <a:r>
              <a:rPr sz="1100" b="0" i="0" dirty="0">
                <a:solidFill>
                  <a:srgbClr val="94A3B8"/>
                </a:solidFill>
                <a:latin typeface="Calibri"/>
              </a:rPr>
              <a:t> = </a:t>
            </a:r>
            <a:r>
              <a:rPr sz="1100" b="0" i="0" dirty="0" err="1">
                <a:solidFill>
                  <a:srgbClr val="94A3B8"/>
                </a:solidFill>
                <a:latin typeface="Calibri"/>
              </a:rPr>
              <a:t>nos</a:t>
            </a:r>
            <a:r>
              <a:rPr sz="1100" b="0" i="0" dirty="0">
                <a:solidFill>
                  <a:srgbClr val="94A3B8"/>
                </a:solidFill>
                <a:latin typeface="Calibri"/>
              </a:rPr>
              <a:t>, </a:t>
            </a:r>
            <a:r>
              <a:rPr sz="1100" b="0" i="0" dirty="0" err="1">
                <a:solidFill>
                  <a:srgbClr val="94A3B8"/>
                </a:solidFill>
                <a:latin typeface="Calibri"/>
              </a:rPr>
              <a:t>amizades</a:t>
            </a:r>
            <a:r>
              <a:rPr sz="1100" b="0" i="0" dirty="0">
                <a:solidFill>
                  <a:srgbClr val="94A3B8"/>
                </a:solidFill>
                <a:latin typeface="Calibri"/>
              </a:rPr>
              <a:t> = </a:t>
            </a:r>
            <a:r>
              <a:rPr sz="1100" b="0" i="0" dirty="0" err="1">
                <a:solidFill>
                  <a:srgbClr val="94A3B8"/>
                </a:solidFill>
                <a:latin typeface="Calibri"/>
              </a:rPr>
              <a:t>arestas</a:t>
            </a:r>
            <a:r>
              <a:rPr sz="1100" b="0" i="0" dirty="0">
                <a:solidFill>
                  <a:srgbClr val="94A3B8"/>
                </a:solidFill>
                <a:latin typeface="Calibri"/>
              </a:rPr>
              <a:t>. </a:t>
            </a:r>
            <a:endParaRPr lang="pt-BR" sz="1100" b="0" i="0" dirty="0">
              <a:solidFill>
                <a:srgbClr val="94A3B8"/>
              </a:solidFill>
              <a:latin typeface="Calibri"/>
            </a:endParaRPr>
          </a:p>
          <a:p>
            <a:pPr algn="l"/>
            <a:endParaRPr lang="pt-BR" sz="1100" b="0" i="0" dirty="0">
              <a:solidFill>
                <a:srgbClr val="94A3B8"/>
              </a:solidFill>
              <a:latin typeface="Calibri"/>
            </a:endParaRPr>
          </a:p>
          <a:p>
            <a:pPr algn="l"/>
            <a:r>
              <a:rPr sz="1100" b="0" i="0" dirty="0">
                <a:solidFill>
                  <a:srgbClr val="94A3B8"/>
                </a:solidFill>
                <a:latin typeface="Calibri"/>
              </a:rPr>
              <a:t>LinkedIn, Facebook, Instagram.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446227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5EEAD4"/>
                </a:solidFill>
                <a:latin typeface="Calibri"/>
              </a:rPr>
              <a:t>GPS / Mapas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4828032"/>
            <a:ext cx="54864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94A3B8"/>
                </a:solidFill>
                <a:latin typeface="Calibri"/>
              </a:rPr>
              <a:t>Cidades = </a:t>
            </a:r>
            <a:r>
              <a:rPr sz="1100" b="0" i="0" dirty="0" err="1">
                <a:solidFill>
                  <a:srgbClr val="94A3B8"/>
                </a:solidFill>
                <a:latin typeface="Calibri"/>
              </a:rPr>
              <a:t>nos</a:t>
            </a:r>
            <a:r>
              <a:rPr sz="1100" b="0" i="0" dirty="0">
                <a:solidFill>
                  <a:srgbClr val="94A3B8"/>
                </a:solidFill>
                <a:latin typeface="Calibri"/>
              </a:rPr>
              <a:t>, </a:t>
            </a:r>
            <a:r>
              <a:rPr sz="1100" b="0" i="0" dirty="0" err="1">
                <a:solidFill>
                  <a:srgbClr val="94A3B8"/>
                </a:solidFill>
                <a:latin typeface="Calibri"/>
              </a:rPr>
              <a:t>estradas</a:t>
            </a:r>
            <a:r>
              <a:rPr sz="1100" b="0" i="0" dirty="0">
                <a:solidFill>
                  <a:srgbClr val="94A3B8"/>
                </a:solidFill>
                <a:latin typeface="Calibri"/>
              </a:rPr>
              <a:t> = </a:t>
            </a:r>
            <a:r>
              <a:rPr sz="1100" b="0" i="0" dirty="0" err="1">
                <a:solidFill>
                  <a:srgbClr val="94A3B8"/>
                </a:solidFill>
                <a:latin typeface="Calibri"/>
              </a:rPr>
              <a:t>arestas</a:t>
            </a:r>
            <a:r>
              <a:rPr sz="1100" b="0" i="0" dirty="0">
                <a:solidFill>
                  <a:srgbClr val="94A3B8"/>
                </a:solidFill>
                <a:latin typeface="Calibri"/>
              </a:rPr>
              <a:t> com peso (km). </a:t>
            </a:r>
            <a:endParaRPr lang="pt-BR" sz="1100" b="0" i="0" dirty="0">
              <a:solidFill>
                <a:srgbClr val="94A3B8"/>
              </a:solidFill>
              <a:latin typeface="Calibri"/>
            </a:endParaRPr>
          </a:p>
          <a:p>
            <a:pPr algn="l"/>
            <a:endParaRPr lang="pt-BR" sz="1100" dirty="0">
              <a:solidFill>
                <a:srgbClr val="94A3B8"/>
              </a:solidFill>
              <a:latin typeface="Calibri"/>
            </a:endParaRPr>
          </a:p>
          <a:p>
            <a:pPr algn="l"/>
            <a:r>
              <a:rPr sz="1100" b="0" i="0" dirty="0">
                <a:solidFill>
                  <a:srgbClr val="94A3B8"/>
                </a:solidFill>
                <a:latin typeface="Calibri"/>
              </a:rPr>
              <a:t>Google Maps.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46811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5EEAD4"/>
                </a:solidFill>
                <a:latin typeface="Calibri"/>
              </a:rPr>
              <a:t>Redes </a:t>
            </a:r>
            <a:r>
              <a:rPr sz="1300" b="1" i="0" dirty="0" err="1">
                <a:solidFill>
                  <a:srgbClr val="5EEAD4"/>
                </a:solidFill>
                <a:latin typeface="Calibri"/>
              </a:rPr>
              <a:t>Eletricas</a:t>
            </a:r>
            <a:endParaRPr sz="1300" b="1" i="0" dirty="0">
              <a:solidFill>
                <a:srgbClr val="5EEAD4"/>
              </a:solidFill>
              <a:latin typeface="Calibr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57200" y="5833872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Subestacoes = nos, cabos = arestas. Detectar falhas na rede.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546811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 err="1">
                <a:solidFill>
                  <a:srgbClr val="5EEAD4"/>
                </a:solidFill>
                <a:latin typeface="Calibri"/>
              </a:rPr>
              <a:t>Fraude</a:t>
            </a:r>
            <a:r>
              <a:rPr sz="1300" b="1" i="0" dirty="0">
                <a:solidFill>
                  <a:srgbClr val="5EEAD4"/>
                </a:solidFill>
                <a:latin typeface="Calibri"/>
              </a:rPr>
              <a:t> Bancaria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5833872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Contas = nos, transacoes = arestas. Detectar ciclos suspeitos.</a:t>
            </a:r>
          </a:p>
        </p:txBody>
      </p:sp>
      <p:cxnSp>
        <p:nvCxnSpPr>
          <p:cNvPr id="35" name="Conector de Seta Reta 34">
            <a:extLst>
              <a:ext uri="{FF2B5EF4-FFF2-40B4-BE49-F238E27FC236}">
                <a16:creationId xmlns:a16="http://schemas.microsoft.com/office/drawing/2014/main" id="{14EB49DB-A426-0D43-8F02-ACDA1360387C}"/>
              </a:ext>
            </a:extLst>
          </p:cNvPr>
          <p:cNvCxnSpPr>
            <a:stCxn id="10" idx="3"/>
            <a:endCxn id="12" idx="1"/>
          </p:cNvCxnSpPr>
          <p:nvPr/>
        </p:nvCxnSpPr>
        <p:spPr>
          <a:xfrm>
            <a:off x="7791649" y="1636909"/>
            <a:ext cx="1570482" cy="21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ector de Seta Reta 37">
            <a:extLst>
              <a:ext uri="{FF2B5EF4-FFF2-40B4-BE49-F238E27FC236}">
                <a16:creationId xmlns:a16="http://schemas.microsoft.com/office/drawing/2014/main" id="{75BD2475-07BD-C9AA-6CB3-6C20F8C036CD}"/>
              </a:ext>
            </a:extLst>
          </p:cNvPr>
          <p:cNvCxnSpPr/>
          <p:nvPr/>
        </p:nvCxnSpPr>
        <p:spPr>
          <a:xfrm>
            <a:off x="7654489" y="1914562"/>
            <a:ext cx="473202" cy="5931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ector de Seta Reta 39">
            <a:extLst>
              <a:ext uri="{FF2B5EF4-FFF2-40B4-BE49-F238E27FC236}">
                <a16:creationId xmlns:a16="http://schemas.microsoft.com/office/drawing/2014/main" id="{CF731A9E-B844-99F6-0653-293C227FEA71}"/>
              </a:ext>
            </a:extLst>
          </p:cNvPr>
          <p:cNvCxnSpPr/>
          <p:nvPr/>
        </p:nvCxnSpPr>
        <p:spPr>
          <a:xfrm flipH="1">
            <a:off x="9022660" y="1914562"/>
            <a:ext cx="476631" cy="6335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ector de Seta Reta 41">
            <a:extLst>
              <a:ext uri="{FF2B5EF4-FFF2-40B4-BE49-F238E27FC236}">
                <a16:creationId xmlns:a16="http://schemas.microsoft.com/office/drawing/2014/main" id="{9DAD8791-123A-AB7B-5598-54ADFA880D1B}"/>
              </a:ext>
            </a:extLst>
          </p:cNvPr>
          <p:cNvCxnSpPr/>
          <p:nvPr/>
        </p:nvCxnSpPr>
        <p:spPr>
          <a:xfrm>
            <a:off x="10051907" y="1959069"/>
            <a:ext cx="133184" cy="8686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21">
            <a:extLst>
              <a:ext uri="{FF2B5EF4-FFF2-40B4-BE49-F238E27FC236}">
                <a16:creationId xmlns:a16="http://schemas.microsoft.com/office/drawing/2014/main" id="{E83BC091-4C8F-4A33-5536-4A1FCF8FE74F}"/>
              </a:ext>
            </a:extLst>
          </p:cNvPr>
          <p:cNvSpPr txBox="1"/>
          <p:nvPr/>
        </p:nvSpPr>
        <p:spPr>
          <a:xfrm>
            <a:off x="9383566" y="2868511"/>
            <a:ext cx="55692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00" b="0" i="1" dirty="0">
                <a:solidFill>
                  <a:srgbClr val="475569"/>
                </a:solidFill>
                <a:latin typeface="Calibri"/>
              </a:rPr>
              <a:t>Visita</a:t>
            </a:r>
            <a:endParaRPr sz="900" b="0" i="1" dirty="0">
              <a:solidFill>
                <a:srgbClr val="475569"/>
              </a:solidFill>
              <a:latin typeface="Calibri"/>
            </a:endParaRPr>
          </a:p>
        </p:txBody>
      </p:sp>
      <p:cxnSp>
        <p:nvCxnSpPr>
          <p:cNvPr id="45" name="Conector de Seta Reta 44">
            <a:extLst>
              <a:ext uri="{FF2B5EF4-FFF2-40B4-BE49-F238E27FC236}">
                <a16:creationId xmlns:a16="http://schemas.microsoft.com/office/drawing/2014/main" id="{DB809897-4BA8-9816-DCBD-79241719FF0A}"/>
              </a:ext>
            </a:extLst>
          </p:cNvPr>
          <p:cNvCxnSpPr/>
          <p:nvPr/>
        </p:nvCxnSpPr>
        <p:spPr>
          <a:xfrm>
            <a:off x="8859211" y="2868511"/>
            <a:ext cx="1097280" cy="5184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ector de Seta Reta 46">
            <a:extLst>
              <a:ext uri="{FF2B5EF4-FFF2-40B4-BE49-F238E27FC236}">
                <a16:creationId xmlns:a16="http://schemas.microsoft.com/office/drawing/2014/main" id="{A2080232-C5F0-C049-90A2-FD90E495EA01}"/>
              </a:ext>
            </a:extLst>
          </p:cNvPr>
          <p:cNvCxnSpPr/>
          <p:nvPr/>
        </p:nvCxnSpPr>
        <p:spPr>
          <a:xfrm flipH="1">
            <a:off x="7743941" y="2868511"/>
            <a:ext cx="565305" cy="4164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21">
            <a:extLst>
              <a:ext uri="{FF2B5EF4-FFF2-40B4-BE49-F238E27FC236}">
                <a16:creationId xmlns:a16="http://schemas.microsoft.com/office/drawing/2014/main" id="{19D2F2FD-E61A-6716-8304-85ED17991F50}"/>
              </a:ext>
            </a:extLst>
          </p:cNvPr>
          <p:cNvSpPr txBox="1"/>
          <p:nvPr/>
        </p:nvSpPr>
        <p:spPr>
          <a:xfrm>
            <a:off x="7595053" y="2816778"/>
            <a:ext cx="64206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00" b="0" i="1" dirty="0">
                <a:solidFill>
                  <a:srgbClr val="475569"/>
                </a:solidFill>
                <a:latin typeface="Calibri"/>
              </a:rPr>
              <a:t>Conhece</a:t>
            </a:r>
            <a:endParaRPr sz="900" b="0" i="1" dirty="0">
              <a:solidFill>
                <a:srgbClr val="475569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  <p:bldP spid="11" grpId="0"/>
      <p:bldP spid="12" grpId="0" animBg="1"/>
      <p:bldP spid="13" grpId="0"/>
      <p:bldP spid="14" grpId="0" animBg="1"/>
      <p:bldP spid="15" grpId="0"/>
      <p:bldP spid="16" grpId="0" animBg="1"/>
      <p:bldP spid="17" grpId="0"/>
      <p:bldP spid="18" grpId="0" animBg="1"/>
      <p:bldP spid="19" grpId="0"/>
      <p:bldP spid="20" grpId="0"/>
      <p:bldP spid="21" grpId="0"/>
      <p:bldP spid="22" grpId="0"/>
      <p:bldP spid="23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43" grpId="0"/>
      <p:bldP spid="4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Conceitos do Banco de Dados de Grafos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04672"/>
            <a:ext cx="11612880" cy="9875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804672"/>
            <a:ext cx="548640" cy="9875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804672"/>
            <a:ext cx="54864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 dirty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85039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9488"/>
                </a:solidFill>
                <a:latin typeface="Calibri"/>
              </a:rPr>
              <a:t>No (Node / Vertex)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26187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Representa uma entidade — pessoa, produto, cidade. Tem LABELS que definem o tipo. Ex: (:Pessoa {nome: 'Ana', idade: 30})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901952"/>
            <a:ext cx="11612880" cy="9875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4320" y="1901952"/>
            <a:ext cx="548640" cy="9875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4320" y="1901952"/>
            <a:ext cx="54864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 dirty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194767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563EB"/>
                </a:solidFill>
                <a:latin typeface="Calibri"/>
              </a:rPr>
              <a:t>Aresta (Edge / Relationship)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35915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Conexao entre dois nos. Tem tipo e direcao. Ex: (Ana)-[:AMIGA_DE {desde:2020}]-&gt;(Carlos). Pode ter propriedades proprias.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999232"/>
            <a:ext cx="11612880" cy="9875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74320" y="2999232"/>
            <a:ext cx="548640" cy="9875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4320" y="2999232"/>
            <a:ext cx="54864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 dirty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044951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  <a:latin typeface="Calibri"/>
              </a:rPr>
              <a:t>Propriedade (Property)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45643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Atributo de um no ou aresta. Par chave-valor. Ex: no Pessoa tem {nome:'Ana', idade:30}. Aresta COMPROU tem {valor:150.00}.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096511"/>
            <a:ext cx="11612880" cy="9875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74320" y="4096511"/>
            <a:ext cx="548640" cy="9875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74320" y="4096511"/>
            <a:ext cx="54864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 dirty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142231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Label (Etiqueta)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55371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Categoria de um no. Um no pode ter mais de uma label. Ex: (:Pessoa:Funcionario) significa que o no e Pessoa E Funcionario.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193792"/>
            <a:ext cx="11612880" cy="9875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74320" y="5193792"/>
            <a:ext cx="548640" cy="9875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74320" y="5193792"/>
            <a:ext cx="54864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 dirty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523951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A580C"/>
                </a:solidFill>
                <a:latin typeface="Calibri"/>
              </a:rPr>
              <a:t>Traversal (Caminhamento)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565099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Navegar pelo grafo seguindo as arestas. Como percorrer um mapa pelas estradas. Ex: 'Quais sao os amigos dos amigos da Ana?'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2" grpId="0"/>
      <p:bldP spid="13" grpId="0"/>
      <p:bldP spid="14" grpId="0"/>
      <p:bldP spid="17" grpId="0"/>
      <p:bldP spid="18" grpId="0"/>
      <p:bldP spid="19" grpId="0"/>
      <p:bldP spid="22" grpId="0"/>
      <p:bldP spid="23" grpId="0"/>
      <p:bldP spid="24" grpId="0"/>
      <p:bldP spid="27" grpId="0"/>
      <p:bldP spid="28" grpId="0"/>
      <p:bldP spid="2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Cypher — A Linguagem de Consulta para Grafos (Neo4j)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9488"/>
                </a:solidFill>
                <a:latin typeface="Calibri"/>
              </a:rPr>
              <a:t>O Cypher e para o BD de Grafos o que o SQL e para o banco relacional!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61872"/>
            <a:ext cx="11612880" cy="118872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261872"/>
            <a:ext cx="91440" cy="1188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31673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9488"/>
                </a:solidFill>
                <a:latin typeface="Calibri"/>
              </a:rPr>
              <a:t>Criar um no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64207"/>
            <a:ext cx="7498079" cy="6583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1682495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6EFAC"/>
                </a:solidFill>
                <a:latin typeface="Courier New"/>
              </a:rPr>
              <a:t>CREATE (:Pessoa {nome: 'Ana', idade: 30})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664207"/>
            <a:ext cx="3566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75569"/>
                </a:solidFill>
                <a:latin typeface="Calibri"/>
              </a:rPr>
              <a:t>Cria no com label Pessoa e propriedades nome e idade.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606039"/>
            <a:ext cx="11612880" cy="118872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4320" y="2606039"/>
            <a:ext cx="91440" cy="1188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2660903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Calibri"/>
              </a:rPr>
              <a:t>Criar uma relacao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008375"/>
            <a:ext cx="7498079" cy="6583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3026663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6EFAC"/>
                </a:solidFill>
                <a:latin typeface="Courier New"/>
              </a:rPr>
              <a:t>MATCH (a:Pessoa {nome:'Ana'}), (b:Pessoa {nome:'Carlos'})
CREATE (a)-[:AMIGA_DE {desde: 2020}]-&gt;(b)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008375"/>
            <a:ext cx="3566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75569"/>
                </a:solidFill>
                <a:latin typeface="Calibri"/>
              </a:rPr>
              <a:t>Encontra Ana e Carlos e cria aresta AMIGA_DE com propriedade 'desde'.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950208"/>
            <a:ext cx="11612880" cy="118872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74320" y="3950208"/>
            <a:ext cx="91440" cy="1188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40050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Calibri"/>
              </a:rPr>
              <a:t>Buscar nos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352544"/>
            <a:ext cx="7498079" cy="6583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" y="4370832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6EFAC"/>
                </a:solidFill>
                <a:latin typeface="Courier New"/>
              </a:rPr>
              <a:t>MATCH (p:Pessoa) WHERE p.idade &gt; 25 RETURN p.nome, p.idade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4352544"/>
            <a:ext cx="3566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75569"/>
                </a:solidFill>
                <a:latin typeface="Calibri"/>
              </a:rPr>
              <a:t>Retorna nome e idade de todas as Pessoas com mais de 25 anos.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5294376"/>
            <a:ext cx="11612880" cy="118872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74320" y="5294376"/>
            <a:ext cx="91440" cy="1188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" y="5349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A580C"/>
                </a:solidFill>
                <a:latin typeface="Calibri"/>
              </a:rPr>
              <a:t>Traversal (2 hops)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696712"/>
            <a:ext cx="7498079" cy="6583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94360" y="571500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6EFAC"/>
                </a:solidFill>
                <a:latin typeface="Courier New"/>
              </a:rPr>
              <a:t>MATCH (a:Pessoa {nome:'Ana'})-[:AMIGA_DE]-&gt;(amigo)-[:AMIGA_DE]-&gt;(fof)
RETURN fof.nome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5696712"/>
            <a:ext cx="3566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75569"/>
                </a:solidFill>
                <a:latin typeface="Calibri"/>
              </a:rPr>
              <a:t>Amigos dos amigos da Ana — impossivel de fazer eficientemente com JOINs no SQL!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BD de Grafos — Pontos Positivos e Negativos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04672"/>
            <a:ext cx="5669280" cy="5715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804672"/>
            <a:ext cx="5669280" cy="457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80467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Vantagens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256032" cy="2560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371600"/>
            <a:ext cx="4937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  <a:latin typeface="Calibri"/>
              </a:rPr>
              <a:t>Performance excepcional em consultas de relacionamento (traversal)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58568"/>
            <a:ext cx="256032" cy="2560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212848"/>
            <a:ext cx="4937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  <a:latin typeface="Calibri"/>
              </a:rPr>
              <a:t>Extremamente flexivel: adicione relacionamentos sem migrar schema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099816"/>
            <a:ext cx="256032" cy="2560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3054096"/>
            <a:ext cx="4937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  <a:latin typeface="Calibri"/>
              </a:rPr>
              <a:t>Consultas de caminhamento sao naturais e intuitivas com Cypher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941064"/>
            <a:ext cx="256032" cy="2560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3895344"/>
            <a:ext cx="4937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  <a:latin typeface="Calibri"/>
              </a:rPr>
              <a:t>Ideal para detectar fraudes, recomendar produtos e calcular rotas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782312"/>
            <a:ext cx="256032" cy="2560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4736592"/>
            <a:ext cx="4937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  <a:latin typeface="Calibri"/>
              </a:rPr>
              <a:t>Representacao visual muito intuitiva para humanos e negocio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804672"/>
            <a:ext cx="5486400" cy="5715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0" y="804672"/>
            <a:ext cx="5486400" cy="457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2240" y="80467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Desvantagens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1417320"/>
            <a:ext cx="256032" cy="2560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0" y="1371600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  <a:latin typeface="Calibri"/>
              </a:rPr>
              <a:t>Pouco eficiente para dados muito tabulares e operacoes simples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2258568"/>
            <a:ext cx="256032" cy="2560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58000" y="2212848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  <a:latin typeface="Calibri"/>
              </a:rPr>
              <a:t>Menor suporte a transacoes ACID completas em alguns sistemas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3099816"/>
            <a:ext cx="256032" cy="2560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0" y="3054096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  <a:latin typeface="Calibri"/>
              </a:rPr>
              <a:t>Curva de aprendizado do Cypher/Gremlin para quem vem do SQL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3941064"/>
            <a:ext cx="256032" cy="2560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58000" y="3895344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  <a:latin typeface="Calibri"/>
              </a:rPr>
              <a:t>Ecossistema menor de ferramentas de BI, analytics e relatorios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2240" y="4782312"/>
            <a:ext cx="256032" cy="2560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58000" y="4736592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  <a:latin typeface="Calibri"/>
              </a:rPr>
              <a:t>Escalabilidade horizontal menos madura que bancos relacionais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0" grpId="0" animBg="1"/>
      <p:bldP spid="11" grpId="0"/>
      <p:bldP spid="12" grpId="0" animBg="1"/>
      <p:bldP spid="13" grpId="0"/>
      <p:bldP spid="14" grpId="0" animBg="1"/>
      <p:bldP spid="15" grpId="0"/>
      <p:bldP spid="16" grpId="0" animBg="1"/>
      <p:bldP spid="17" grpId="0"/>
      <p:bldP spid="21" grpId="0" animBg="1"/>
      <p:bldP spid="22" grpId="0"/>
      <p:bldP spid="23" grpId="0" animBg="1"/>
      <p:bldP spid="24" grpId="0"/>
      <p:bldP spid="25" grpId="0" animBg="1"/>
      <p:bldP spid="26" grpId="0"/>
      <p:bldP spid="27" grpId="0" animBg="1"/>
      <p:bldP spid="28" grpId="0"/>
      <p:bldP spid="29" grpId="0" animBg="1"/>
      <p:bldP spid="3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Sistemas de BD de Grafos mais Conhecidos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22960"/>
            <a:ext cx="11612880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822960"/>
            <a:ext cx="91440" cy="89611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601200" y="1024128"/>
            <a:ext cx="2103120" cy="3840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0" y="1024128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Lider de Mercado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89611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9488"/>
                </a:solidFill>
                <a:latin typeface="Calibri"/>
              </a:rPr>
              <a:t>Neo4j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98448"/>
            <a:ext cx="8869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O mais popular do mundo. Linguagem Cypher, excelente UI visual, open source com versao enterprise. Muito usado em deteccao de fraudes e redes sociais.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847088"/>
            <a:ext cx="11612880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4320" y="1847088"/>
            <a:ext cx="91440" cy="89611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601200" y="2048256"/>
            <a:ext cx="2103120" cy="38404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0" y="2048256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Cloud / AWS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1920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Amazon Neptune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322576"/>
            <a:ext cx="8869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Servico gerenciado da AWS. Suporta Property Graph (Gremlin) e RDF (SPARQL). Ideal para quem ja usa a AWS.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871216"/>
            <a:ext cx="11612880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74320" y="2871216"/>
            <a:ext cx="91440" cy="89611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601200" y="3072384"/>
            <a:ext cx="2103120" cy="3840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0" y="3072384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Multi-modelo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9443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C3AED"/>
                </a:solidFill>
                <a:latin typeface="Calibri"/>
              </a:rPr>
              <a:t>ArangoDB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346704"/>
            <a:ext cx="8869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Multi-modelo: suporta grafos, documentos e chave-valor. Linguagem AQL propria. Muito flexivel para aplicacoes hibridas.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895344"/>
            <a:ext cx="11612880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74320" y="3895344"/>
            <a:ext cx="91440" cy="89611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601200" y="4096512"/>
            <a:ext cx="210312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01200" y="4096512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Padrao Aberto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3968496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563EB"/>
                </a:solidFill>
                <a:latin typeface="Calibri"/>
              </a:rPr>
              <a:t>Apache TinkerPop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370832"/>
            <a:ext cx="8869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Framework padrao para grafos. Gremlin e a linguagem de traversal. Funciona com JanusGraph, Amazon Neptune e outros bancos.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4919472"/>
            <a:ext cx="11612880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74320" y="4919472"/>
            <a:ext cx="91440" cy="89611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601200" y="5120640"/>
            <a:ext cx="2103120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601200" y="512064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Cloud / Azure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499262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  <a:latin typeface="Calibri"/>
              </a:rPr>
              <a:t>Azure Cosmos DB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5394960"/>
            <a:ext cx="8869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Servico gerenciado da Azure com API de grafos (Gremlin). Distribuido globalmente com baixa latencia para aplicacoes modernas.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1B2A"/>
                </a:solidFill>
                <a:latin typeface="Calibri"/>
              </a:rPr>
              <a:t>Comparativo: Relacional  vs  OO  vs  Grafos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804672"/>
            <a:ext cx="2788920" cy="74980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804672"/>
            <a:ext cx="26974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Criterio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804672"/>
            <a:ext cx="2971800" cy="7498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108960" y="804672"/>
            <a:ext cx="28803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Relacional (SQL)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804672"/>
            <a:ext cx="2971800" cy="7498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26479" y="804672"/>
            <a:ext cx="28803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Orientado a Objetos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52560" y="804672"/>
            <a:ext cx="2971800" cy="7498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0" y="804672"/>
            <a:ext cx="28803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Orientado a Grafos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1627632"/>
            <a:ext cx="2788920" cy="74980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4320" y="1627632"/>
            <a:ext cx="26974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Estrutura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627632"/>
            <a:ext cx="2971800" cy="7498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108960" y="1627632"/>
            <a:ext cx="28803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Tabelas e linhas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1627632"/>
            <a:ext cx="2971800" cy="7498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26479" y="1627632"/>
            <a:ext cx="28803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Objetos e classes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52560" y="1627632"/>
            <a:ext cx="2971800" cy="7498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0" y="1627632"/>
            <a:ext cx="28803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Nos e arestas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2450592"/>
            <a:ext cx="2788920" cy="74980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74320" y="2450592"/>
            <a:ext cx="26974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Linguagem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17520" y="2450592"/>
            <a:ext cx="2971800" cy="7498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108960" y="2450592"/>
            <a:ext cx="28803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SQL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2450592"/>
            <a:ext cx="2971800" cy="7498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126479" y="2450592"/>
            <a:ext cx="28803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OQL / API da linguagem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52560" y="2450592"/>
            <a:ext cx="2971800" cy="7498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0" y="2450592"/>
            <a:ext cx="28803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Cypher / Gremlin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2880" y="3273552"/>
            <a:ext cx="2788920" cy="74980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74320" y="3273552"/>
            <a:ext cx="26974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Relacionamentos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17520" y="3273552"/>
            <a:ext cx="2971800" cy="7498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108960" y="3273552"/>
            <a:ext cx="28803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JOINs (custo alto)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35040" y="3273552"/>
            <a:ext cx="2971800" cy="7498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126479" y="3273552"/>
            <a:ext cx="28803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Referencias diretas (OID)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52560" y="3273552"/>
            <a:ext cx="2971800" cy="7498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144000" y="3273552"/>
            <a:ext cx="28803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Arestas nativas (rapido)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2880" y="4096512"/>
            <a:ext cx="2788920" cy="74980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74320" y="4096512"/>
            <a:ext cx="26974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Heranca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017520" y="4096512"/>
            <a:ext cx="2971800" cy="7498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108960" y="4096512"/>
            <a:ext cx="28803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Nao suporta nativamente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35040" y="4096512"/>
            <a:ext cx="2971800" cy="7498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126479" y="4096512"/>
            <a:ext cx="28803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Suporte nativo completo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052560" y="4096512"/>
            <a:ext cx="2971800" cy="7498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144000" y="4096512"/>
            <a:ext cx="28803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Via labels e propriedades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82880" y="4919472"/>
            <a:ext cx="2788920" cy="74980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74320" y="4919472"/>
            <a:ext cx="26974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Melhor para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017520" y="4919472"/>
            <a:ext cx="2971800" cy="7498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108960" y="4919472"/>
            <a:ext cx="28803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Dados tabulares e transacoes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35040" y="4919472"/>
            <a:ext cx="2971800" cy="7498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126479" y="4919472"/>
            <a:ext cx="28803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Apps POO complexos e multimidia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52560" y="4919472"/>
            <a:ext cx="2971800" cy="7498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44000" y="4919472"/>
            <a:ext cx="28803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Redes, recomendacoes, fraudes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82880" y="5742432"/>
            <a:ext cx="2788920" cy="74980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274320" y="5742432"/>
            <a:ext cx="26974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Exemplos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017520" y="5742432"/>
            <a:ext cx="2971800" cy="7498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108960" y="5742432"/>
            <a:ext cx="28803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MySQL, PostgreSQL, Oracle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35040" y="5742432"/>
            <a:ext cx="2971800" cy="7498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126479" y="5742432"/>
            <a:ext cx="28803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db4o, ObjectStore, ZODB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52560" y="5742432"/>
            <a:ext cx="2971800" cy="7498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44000" y="5742432"/>
            <a:ext cx="28803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Neo4j, Neptune, ArangoDB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59E0B"/>
                </a:solidFill>
                <a:latin typeface="Calibri"/>
              </a:rPr>
              <a:t>Bloco 4  —  Casos de Uso Reais no Mercado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04672"/>
            <a:ext cx="566928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804672"/>
            <a:ext cx="5669280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389120" y="941832"/>
            <a:ext cx="1417320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0" y="941832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BD OO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32688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563EB"/>
                </a:solidFill>
                <a:latin typeface="Calibri"/>
              </a:rPr>
              <a:t>NASA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335024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Armazena objetos complexos de telemetria de missoes espaciais — imagens, sensores, dados de trajetoria.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804672"/>
            <a:ext cx="566928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804672"/>
            <a:ext cx="566928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378440" y="941832"/>
            <a:ext cx="1417320" cy="34747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378440" y="941832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BD Grafos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932688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 dirty="0">
                <a:solidFill>
                  <a:srgbClr val="0D9488"/>
                </a:solidFill>
                <a:latin typeface="Calibri"/>
              </a:rPr>
              <a:t>LinkedIn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335024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Mapa de conexoes profissionais. 'Pessoas que voce pode conhecer' e uma consulta de 2 hops no grafo.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724912"/>
            <a:ext cx="566928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74320" y="2724912"/>
            <a:ext cx="566928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389120" y="2862072"/>
            <a:ext cx="1417320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89120" y="2862072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BD OO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852928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 dirty="0">
                <a:solidFill>
                  <a:srgbClr val="7C3AED"/>
                </a:solidFill>
                <a:latin typeface="Calibri"/>
              </a:rPr>
              <a:t>eBay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255264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Catalogo de produtos com atributos altamente variaveis (roupas, eletronicos, veiculos) como objetos.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2724912"/>
            <a:ext cx="566928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63640" y="2724912"/>
            <a:ext cx="5669280" cy="914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0378440" y="2862072"/>
            <a:ext cx="1417320" cy="34747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378440" y="2862072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BD Grafos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2852928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 dirty="0">
                <a:solidFill>
                  <a:srgbClr val="EA580C"/>
                </a:solidFill>
                <a:latin typeface="Calibri"/>
              </a:rPr>
              <a:t>Walmart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3255264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Gestao da cadeia de suprimentos: produtos, fornecedores e transportadoras como grafo de relacionamentos.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4645152"/>
            <a:ext cx="566928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74320" y="4645152"/>
            <a:ext cx="566928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389120" y="4782312"/>
            <a:ext cx="1417320" cy="34747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389120" y="4782312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BD Grafos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773168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 dirty="0">
                <a:solidFill>
                  <a:srgbClr val="DC2626"/>
                </a:solidFill>
                <a:latin typeface="Calibri"/>
              </a:rPr>
              <a:t>PayPal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175504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Deteccao de fraude em tempo real: identifica padroes suspeitos navegando o grafo de transacoes.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4645152"/>
            <a:ext cx="566928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263640" y="4645152"/>
            <a:ext cx="566928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0378440" y="4782312"/>
            <a:ext cx="1417320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378440" y="4782312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BD OO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4773168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 dirty="0">
                <a:solidFill>
                  <a:srgbClr val="F59E0B"/>
                </a:solidFill>
                <a:latin typeface="Calibri"/>
              </a:rPr>
              <a:t>CAD / GIS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5175504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Sistemas de projeto (AutoCAD) e geo-processamento usam BDOO para guardar geometrias e objetos complexos.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5" grpId="0"/>
      <p:bldP spid="16" grpId="0"/>
      <p:bldP spid="21" grpId="0"/>
      <p:bldP spid="22" grpId="0"/>
      <p:bldP spid="27" grpId="0"/>
      <p:bldP spid="28" grpId="0"/>
      <p:bldP spid="33" grpId="0"/>
      <p:bldP spid="34" grpId="0"/>
      <p:bldP spid="39" grpId="0"/>
      <p:bldP spid="4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1B2A"/>
                </a:solidFill>
                <a:latin typeface="Calibri"/>
              </a:rPr>
              <a:t>Guia Rapido: Quando Usar Cada Tipo de BD?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04672"/>
            <a:ext cx="11612880" cy="9875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804672"/>
            <a:ext cx="91440" cy="9875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326880" y="969264"/>
            <a:ext cx="246888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0" y="969264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Calibri"/>
              </a:rPr>
              <a:t>USE:  BD OO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859536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  <a:latin typeface="Calibri"/>
              </a:rPr>
              <a:t>Meu app usa POO (Java, Python) e tenho objetos complexos com heranca?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316736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  <a:latin typeface="Calibri"/>
              </a:rPr>
              <a:t>Elimina a conversao objeto-tabela, aproveitando heranca nativamente.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901952"/>
            <a:ext cx="11612880" cy="9875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4320" y="1901952"/>
            <a:ext cx="91440" cy="9875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326880" y="2066544"/>
            <a:ext cx="2468880" cy="3840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0" y="2066544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Calibri"/>
              </a:rPr>
              <a:t>USE:  BD </a:t>
            </a:r>
            <a:r>
              <a:rPr sz="1200" b="1" i="0" dirty="0" err="1">
                <a:solidFill>
                  <a:srgbClr val="FFFFFF"/>
                </a:solidFill>
                <a:latin typeface="Calibri"/>
              </a:rPr>
              <a:t>Grafos</a:t>
            </a:r>
            <a:endParaRPr sz="12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1956816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 err="1">
                <a:solidFill>
                  <a:srgbClr val="F1F5F9"/>
                </a:solidFill>
                <a:latin typeface="Calibri"/>
              </a:rPr>
              <a:t>Preciso</a:t>
            </a:r>
            <a:r>
              <a:rPr sz="1300" b="1" i="0" dirty="0">
                <a:solidFill>
                  <a:srgbClr val="F1F5F9"/>
                </a:solidFill>
                <a:latin typeface="Calibri"/>
              </a:rPr>
              <a:t> </a:t>
            </a:r>
            <a:r>
              <a:rPr sz="1300" b="1" i="0" dirty="0" err="1">
                <a:solidFill>
                  <a:srgbClr val="F1F5F9"/>
                </a:solidFill>
                <a:latin typeface="Calibri"/>
              </a:rPr>
              <a:t>analisar</a:t>
            </a:r>
            <a:r>
              <a:rPr sz="1300" b="1" i="0" dirty="0">
                <a:solidFill>
                  <a:srgbClr val="F1F5F9"/>
                </a:solidFill>
                <a:latin typeface="Calibri"/>
              </a:rPr>
              <a:t> </a:t>
            </a:r>
            <a:r>
              <a:rPr sz="1300" b="1" i="0" dirty="0" err="1">
                <a:solidFill>
                  <a:srgbClr val="F1F5F9"/>
                </a:solidFill>
                <a:latin typeface="Calibri"/>
              </a:rPr>
              <a:t>conexoes</a:t>
            </a:r>
            <a:r>
              <a:rPr sz="1300" b="1" i="0" dirty="0">
                <a:solidFill>
                  <a:srgbClr val="F1F5F9"/>
                </a:solidFill>
                <a:latin typeface="Calibri"/>
              </a:rPr>
              <a:t> entre </a:t>
            </a:r>
            <a:r>
              <a:rPr sz="1300" b="1" i="0" dirty="0" err="1">
                <a:solidFill>
                  <a:srgbClr val="F1F5F9"/>
                </a:solidFill>
                <a:latin typeface="Calibri"/>
              </a:rPr>
              <a:t>entidades</a:t>
            </a:r>
            <a:r>
              <a:rPr sz="1300" b="1" i="0" dirty="0">
                <a:solidFill>
                  <a:srgbClr val="F1F5F9"/>
                </a:solidFill>
                <a:latin typeface="Calibri"/>
              </a:rPr>
              <a:t> (redes </a:t>
            </a:r>
            <a:r>
              <a:rPr sz="1300" b="1" i="0" dirty="0" err="1">
                <a:solidFill>
                  <a:srgbClr val="F1F5F9"/>
                </a:solidFill>
                <a:latin typeface="Calibri"/>
              </a:rPr>
              <a:t>sociais</a:t>
            </a:r>
            <a:r>
              <a:rPr sz="1300" b="1" i="0" dirty="0">
                <a:solidFill>
                  <a:srgbClr val="F1F5F9"/>
                </a:solidFill>
                <a:latin typeface="Calibri"/>
              </a:rPr>
              <a:t>, </a:t>
            </a:r>
            <a:r>
              <a:rPr sz="1300" b="1" i="0" dirty="0" err="1">
                <a:solidFill>
                  <a:srgbClr val="F1F5F9"/>
                </a:solidFill>
                <a:latin typeface="Calibri"/>
              </a:rPr>
              <a:t>rotas</a:t>
            </a:r>
            <a:r>
              <a:rPr sz="1300" b="1" i="0" dirty="0">
                <a:solidFill>
                  <a:srgbClr val="F1F5F9"/>
                </a:solidFill>
                <a:latin typeface="Calibri"/>
              </a:rPr>
              <a:t>)?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414016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  <a:latin typeface="Calibri"/>
              </a:rPr>
              <a:t>Traversal em grafos e muito mais rapido que JOINs multiplos.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999232"/>
            <a:ext cx="11612880" cy="9875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74320" y="2999232"/>
            <a:ext cx="91440" cy="9875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326880" y="3163824"/>
            <a:ext cx="2468880" cy="3840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26880" y="3163824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Calibri"/>
              </a:rPr>
              <a:t>USE:  </a:t>
            </a:r>
            <a:r>
              <a:rPr sz="1200" b="1" i="0" dirty="0" err="1">
                <a:solidFill>
                  <a:srgbClr val="FFFFFF"/>
                </a:solidFill>
                <a:latin typeface="Calibri"/>
              </a:rPr>
              <a:t>Relacional</a:t>
            </a:r>
            <a:endParaRPr sz="12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02920" y="3054096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F1F5F9"/>
                </a:solidFill>
                <a:latin typeface="Calibri"/>
              </a:rPr>
              <a:t>Dados </a:t>
            </a:r>
            <a:r>
              <a:rPr sz="1300" b="1" i="0" dirty="0" err="1">
                <a:solidFill>
                  <a:srgbClr val="F1F5F9"/>
                </a:solidFill>
                <a:latin typeface="Calibri"/>
              </a:rPr>
              <a:t>tabulares</a:t>
            </a:r>
            <a:r>
              <a:rPr sz="1300" b="1" i="0" dirty="0">
                <a:solidFill>
                  <a:srgbClr val="F1F5F9"/>
                </a:solidFill>
                <a:latin typeface="Calibri"/>
              </a:rPr>
              <a:t> simples com </a:t>
            </a:r>
            <a:r>
              <a:rPr sz="1300" b="1" i="0" dirty="0" err="1">
                <a:solidFill>
                  <a:srgbClr val="F1F5F9"/>
                </a:solidFill>
                <a:latin typeface="Calibri"/>
              </a:rPr>
              <a:t>transacoes</a:t>
            </a:r>
            <a:r>
              <a:rPr sz="1300" b="1" i="0" dirty="0">
                <a:solidFill>
                  <a:srgbClr val="F1F5F9"/>
                </a:solidFill>
                <a:latin typeface="Calibri"/>
              </a:rPr>
              <a:t> </a:t>
            </a:r>
            <a:r>
              <a:rPr sz="1300" b="1" i="0" dirty="0" err="1">
                <a:solidFill>
                  <a:srgbClr val="F1F5F9"/>
                </a:solidFill>
                <a:latin typeface="Calibri"/>
              </a:rPr>
              <a:t>bancarias</a:t>
            </a:r>
            <a:r>
              <a:rPr sz="1300" b="1" i="0" dirty="0">
                <a:solidFill>
                  <a:srgbClr val="F1F5F9"/>
                </a:solidFill>
                <a:latin typeface="Calibri"/>
              </a:rPr>
              <a:t> </a:t>
            </a:r>
            <a:r>
              <a:rPr sz="1300" b="1" i="0" dirty="0" err="1">
                <a:solidFill>
                  <a:srgbClr val="F1F5F9"/>
                </a:solidFill>
                <a:latin typeface="Calibri"/>
              </a:rPr>
              <a:t>criticas</a:t>
            </a:r>
            <a:r>
              <a:rPr sz="1300" b="1" i="0" dirty="0">
                <a:solidFill>
                  <a:srgbClr val="F1F5F9"/>
                </a:solidFill>
                <a:latin typeface="Calibri"/>
              </a:rPr>
              <a:t> (ACID)?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511296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  <a:latin typeface="Calibri"/>
              </a:rPr>
              <a:t>SQL ainda e rei para dados estruturados com transacoes criticas.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096511"/>
            <a:ext cx="11612880" cy="9875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74320" y="4096511"/>
            <a:ext cx="91440" cy="9875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326880" y="4261103"/>
            <a:ext cx="2468880" cy="3840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326880" y="4261103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Calibri"/>
              </a:rPr>
              <a:t>USE:  BD </a:t>
            </a:r>
            <a:r>
              <a:rPr sz="1200" b="1" i="0" dirty="0" err="1">
                <a:solidFill>
                  <a:srgbClr val="FFFFFF"/>
                </a:solidFill>
                <a:latin typeface="Calibri"/>
              </a:rPr>
              <a:t>Grafos</a:t>
            </a:r>
            <a:endParaRPr sz="12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02920" y="4151375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 err="1">
                <a:solidFill>
                  <a:srgbClr val="F1F5F9"/>
                </a:solidFill>
                <a:latin typeface="Calibri"/>
              </a:rPr>
              <a:t>Preciso</a:t>
            </a:r>
            <a:r>
              <a:rPr sz="1300" b="1" i="0" dirty="0">
                <a:solidFill>
                  <a:srgbClr val="F1F5F9"/>
                </a:solidFill>
                <a:latin typeface="Calibri"/>
              </a:rPr>
              <a:t> </a:t>
            </a:r>
            <a:r>
              <a:rPr sz="1300" b="1" i="0" dirty="0" err="1">
                <a:solidFill>
                  <a:srgbClr val="F1F5F9"/>
                </a:solidFill>
                <a:latin typeface="Calibri"/>
              </a:rPr>
              <a:t>detectar</a:t>
            </a:r>
            <a:r>
              <a:rPr sz="1300" b="1" i="0" dirty="0">
                <a:solidFill>
                  <a:srgbClr val="F1F5F9"/>
                </a:solidFill>
                <a:latin typeface="Calibri"/>
              </a:rPr>
              <a:t> </a:t>
            </a:r>
            <a:r>
              <a:rPr sz="1300" b="1" i="0" dirty="0" err="1">
                <a:solidFill>
                  <a:srgbClr val="F1F5F9"/>
                </a:solidFill>
                <a:latin typeface="Calibri"/>
              </a:rPr>
              <a:t>fraudes</a:t>
            </a:r>
            <a:r>
              <a:rPr sz="1300" b="1" i="0" dirty="0">
                <a:solidFill>
                  <a:srgbClr val="F1F5F9"/>
                </a:solidFill>
                <a:latin typeface="Calibri"/>
              </a:rPr>
              <a:t> </a:t>
            </a:r>
            <a:r>
              <a:rPr sz="1300" b="1" i="0" dirty="0" err="1">
                <a:solidFill>
                  <a:srgbClr val="F1F5F9"/>
                </a:solidFill>
                <a:latin typeface="Calibri"/>
              </a:rPr>
              <a:t>analisando</a:t>
            </a:r>
            <a:r>
              <a:rPr sz="1300" b="1" i="0" dirty="0">
                <a:solidFill>
                  <a:srgbClr val="F1F5F9"/>
                </a:solidFill>
                <a:latin typeface="Calibri"/>
              </a:rPr>
              <a:t> </a:t>
            </a:r>
            <a:r>
              <a:rPr sz="1300" b="1" i="0" dirty="0" err="1">
                <a:solidFill>
                  <a:srgbClr val="F1F5F9"/>
                </a:solidFill>
                <a:latin typeface="Calibri"/>
              </a:rPr>
              <a:t>padroes</a:t>
            </a:r>
            <a:r>
              <a:rPr sz="1300" b="1" i="0" dirty="0">
                <a:solidFill>
                  <a:srgbClr val="F1F5F9"/>
                </a:solidFill>
                <a:latin typeface="Calibri"/>
              </a:rPr>
              <a:t> </a:t>
            </a:r>
            <a:r>
              <a:rPr sz="1300" b="1" i="0" dirty="0" err="1">
                <a:solidFill>
                  <a:srgbClr val="F1F5F9"/>
                </a:solidFill>
                <a:latin typeface="Calibri"/>
              </a:rPr>
              <a:t>em</a:t>
            </a:r>
            <a:r>
              <a:rPr sz="1300" b="1" i="0" dirty="0">
                <a:solidFill>
                  <a:srgbClr val="F1F5F9"/>
                </a:solidFill>
                <a:latin typeface="Calibri"/>
              </a:rPr>
              <a:t> redes de </a:t>
            </a:r>
            <a:r>
              <a:rPr sz="1300" b="1" i="0" dirty="0" err="1">
                <a:solidFill>
                  <a:srgbClr val="F1F5F9"/>
                </a:solidFill>
                <a:latin typeface="Calibri"/>
              </a:rPr>
              <a:t>transacoes</a:t>
            </a:r>
            <a:r>
              <a:rPr sz="1300" b="1" i="0" dirty="0">
                <a:solidFill>
                  <a:srgbClr val="F1F5F9"/>
                </a:solidFill>
                <a:latin typeface="Calibri"/>
              </a:rPr>
              <a:t>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608575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  <a:latin typeface="Calibri"/>
              </a:rPr>
              <a:t>Identificar ciclos suspeitos e muito mais eficiente em grafos.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5193792"/>
            <a:ext cx="11612880" cy="9875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74320" y="5193792"/>
            <a:ext cx="91440" cy="9875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326880" y="5358383"/>
            <a:ext cx="246888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326880" y="5358383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Calibri"/>
              </a:rPr>
              <a:t>USE:  BD OO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5248655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F1F5F9"/>
                </a:solidFill>
                <a:latin typeface="Calibri"/>
              </a:rPr>
              <a:t>Minha app </a:t>
            </a:r>
            <a:r>
              <a:rPr sz="1300" b="1" i="0" dirty="0" err="1">
                <a:solidFill>
                  <a:srgbClr val="F1F5F9"/>
                </a:solidFill>
                <a:latin typeface="Calibri"/>
              </a:rPr>
              <a:t>guarda</a:t>
            </a:r>
            <a:r>
              <a:rPr sz="1300" b="1" i="0" dirty="0">
                <a:solidFill>
                  <a:srgbClr val="F1F5F9"/>
                </a:solidFill>
                <a:latin typeface="Calibri"/>
              </a:rPr>
              <a:t> imagens, videos e audio junto com </a:t>
            </a:r>
            <a:r>
              <a:rPr sz="1300" b="1" i="0" dirty="0" err="1">
                <a:solidFill>
                  <a:srgbClr val="F1F5F9"/>
                </a:solidFill>
                <a:latin typeface="Calibri"/>
              </a:rPr>
              <a:t>metadados</a:t>
            </a:r>
            <a:r>
              <a:rPr sz="1300" b="1" i="0" dirty="0">
                <a:solidFill>
                  <a:srgbClr val="F1F5F9"/>
                </a:solidFill>
                <a:latin typeface="Calibri"/>
              </a:rPr>
              <a:t> </a:t>
            </a:r>
            <a:r>
              <a:rPr sz="1300" b="1" i="0" dirty="0" err="1">
                <a:solidFill>
                  <a:srgbClr val="F1F5F9"/>
                </a:solidFill>
                <a:latin typeface="Calibri"/>
              </a:rPr>
              <a:t>ricos</a:t>
            </a:r>
            <a:r>
              <a:rPr sz="1300" b="1" i="0" dirty="0">
                <a:solidFill>
                  <a:srgbClr val="F1F5F9"/>
                </a:solidFill>
                <a:latin typeface="Calibri"/>
              </a:rPr>
              <a:t>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5705856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  <a:latin typeface="Calibri"/>
              </a:rPr>
              <a:t>BDOO armazena multimidia como parte do objeto, sem fragmentacao.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4" grpId="0"/>
      <p:bldP spid="15" grpId="0"/>
      <p:bldP spid="16" grpId="0"/>
      <p:bldP spid="20" grpId="0"/>
      <p:bldP spid="21" grpId="0"/>
      <p:bldP spid="22" grpId="0"/>
      <p:bldP spid="26" grpId="0"/>
      <p:bldP spid="27" grpId="0"/>
      <p:bldP spid="28" grpId="0"/>
      <p:bldP spid="32" grpId="0"/>
      <p:bldP spid="33" grpId="0"/>
      <p:bldP spid="3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1858</Words>
  <Application>Microsoft Office PowerPoint</Application>
  <PresentationFormat>Personalizar</PresentationFormat>
  <Paragraphs>254</Paragraphs>
  <Slides>16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Wagner Ramos Toth</dc:creator>
  <cp:keywords/>
  <dc:description>generated using python-pptx</dc:description>
  <cp:lastModifiedBy>Wagner Ramos Toth</cp:lastModifiedBy>
  <cp:revision>2</cp:revision>
  <dcterms:created xsi:type="dcterms:W3CDTF">2013-01-27T09:14:16Z</dcterms:created>
  <dcterms:modified xsi:type="dcterms:W3CDTF">2026-03-11T00:45:11Z</dcterms:modified>
  <cp:category/>
</cp:coreProperties>
</file>