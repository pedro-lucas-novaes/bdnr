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gner Ramos Toth" userId="04f8a0f121f88dd9" providerId="LiveId" clId="{3125A7C0-5EBA-4D21-B61D-7B668725E2F7}"/>
    <pc:docChg chg="custSel modSld">
      <pc:chgData name="Wagner Ramos Toth" userId="04f8a0f121f88dd9" providerId="LiveId" clId="{3125A7C0-5EBA-4D21-B61D-7B668725E2F7}" dt="2026-03-18T00:12:18.584" v="0" actId="478"/>
      <pc:docMkLst>
        <pc:docMk/>
      </pc:docMkLst>
      <pc:sldChg chg="delSp mod">
        <pc:chgData name="Wagner Ramos Toth" userId="04f8a0f121f88dd9" providerId="LiveId" clId="{3125A7C0-5EBA-4D21-B61D-7B668725E2F7}" dt="2026-03-18T00:12:18.584" v="0" actId="478"/>
        <pc:sldMkLst>
          <pc:docMk/>
          <pc:sldMk cId="0" sldId="256"/>
        </pc:sldMkLst>
        <pc:spChg chg="del">
          <ac:chgData name="Wagner Ramos Toth" userId="04f8a0f121f88dd9" providerId="LiveId" clId="{3125A7C0-5EBA-4D21-B61D-7B668725E2F7}" dt="2026-03-18T00:12:18.584" v="0" actId="478"/>
          <ac:spMkLst>
            <pc:docMk/>
            <pc:sldMk cId="0" sldId="256"/>
            <ac:spMk id="1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30388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731520"/>
            <a:ext cx="3200400" cy="3200400"/>
          </a:xfrm>
          <a:prstGeom prst="ellipse">
            <a:avLst/>
          </a:prstGeom>
          <a:solidFill>
            <a:srgbClr val="0E5C8A">
              <a:alpha val="20000"/>
            </a:srgbClr>
          </a:solidFill>
          <a:ln w="12700">
            <a:solidFill>
              <a:srgbClr val="0891B2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2286000"/>
            <a:ext cx="2011680" cy="2011680"/>
          </a:xfrm>
          <a:prstGeom prst="ellipse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22D3EE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2286000" cy="2926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</a:rPr>
              <a:t>BANCO DE DADOS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Orientados a Coluna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conceito às aplicações reais: OLTP, OLAP,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armazenamento colunar e ferramentas do mercado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32004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dos dados em larga escala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2834640" cy="1234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0584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328 milhões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28600" y="160020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 de dados gerados por dia no mundo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0" y="1005840"/>
            <a:ext cx="2834640" cy="1234440"/>
          </a:xfrm>
          <a:prstGeom prst="rect">
            <a:avLst/>
          </a:prstGeom>
          <a:solidFill>
            <a:srgbClr val="0E5C8A"/>
          </a:solidFill>
          <a:ln w="12700">
            <a:solidFill>
              <a:srgbClr val="0E5C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100584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quintilhões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200400" y="160020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bytes criados a cada dia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1005840"/>
            <a:ext cx="2834640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72200" y="100584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172200" y="160020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dados são não estruturados ou semi-estruturados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28600" y="2377440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gargalo dos bancos relacionais tradicionais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28600" y="2916936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283464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consulta simples como  SELECT AVG(salario) FROM funcionarios  em um banco relacional com 100 milhões de registros precisa ler TODOS os campos de TODAS as linhas — mesmo que você só queira o salário.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28600" y="3575304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349300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Isso acontece porque os dados são armazenados linha por linha no disco. Para chegar na coluna que você quer, o banco carrega blocos inteiros de dados desnecessários na memória.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28600" y="4233672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4151376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alta latência, alto consumo de I/O, baixa performance em análises — exatamente o cenário do Big Data e Business Intelligence.</a:t>
            </a:r>
            <a:endParaRPr lang="en-US" sz="11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6" grpId="0" animBg="1"/>
      <p:bldP spid="18" grpId="0" animBg="1"/>
      <p:bldP spid="2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OLTP × OLAP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tipos de uso, dois modelos de banco de dados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8600" y="1234440"/>
            <a:ext cx="4069080" cy="3566160"/>
          </a:xfrm>
          <a:prstGeom prst="rect">
            <a:avLst/>
          </a:prstGeom>
          <a:solidFill>
            <a:srgbClr val="0E5C8A">
              <a:alpha val="8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234440"/>
            <a:ext cx="4069080" cy="502920"/>
          </a:xfrm>
          <a:prstGeom prst="rect">
            <a:avLst/>
          </a:prstGeom>
          <a:solidFill>
            <a:srgbClr val="0E5C8A"/>
          </a:solidFill>
          <a:ln w="12700">
            <a:solidFill>
              <a:srgbClr val="0E5C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234440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OLTP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28600" y="173736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Transaction Processing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" y="2176272"/>
            <a:ext cx="146304" cy="14630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10312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Foco: operações transacionais (INSERT, UPDATE, DELETE)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578608"/>
            <a:ext cx="146304" cy="14630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505456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frequência de escrita e leitura de poucos registros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7472" y="2980944"/>
            <a:ext cx="146304" cy="14630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907792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sistema de pedidos de um e-commerce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7472" y="3383280"/>
            <a:ext cx="146304" cy="14630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331012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Lê registros completos (uma linha inteira por vez)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47472" y="3785616"/>
            <a:ext cx="146304" cy="14630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712464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 consistência imediata (ACID)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7472" y="4187952"/>
            <a:ext cx="146304" cy="14630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411480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Bancos: PostgreSQL, MySQL, Oracle, SQL Server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1234440"/>
            <a:ext cx="4069080" cy="3566160"/>
          </a:xfrm>
          <a:prstGeom prst="rect">
            <a:avLst/>
          </a:prstGeom>
          <a:solidFill>
            <a:srgbClr val="1E3A5F">
              <a:alpha val="9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1234440"/>
            <a:ext cx="406908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1234440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OLAP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846320" y="173736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Analytical Processing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56048" y="2176272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75504" y="210312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Foco: análise e agregação de grandes volumes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956048" y="2578608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75504" y="2505456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Poucas escritas, muitas leituras analíticas complexas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956048" y="2980944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75504" y="2907792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relatório de vendas por região e período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956048" y="3383280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75504" y="331012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Lê apenas as colunas necessárias para o cálculo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956048" y="3785616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75504" y="3712464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 velocidade de leitura (eventual consistency)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956048" y="4187952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75504" y="411480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Bancos: BigQuery, Redshift, Snowflake, ClickHouse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297680" y="2560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  <p:bldP spid="12" grpId="0" animBg="1"/>
      <p:bldP spid="14" grpId="0" animBg="1"/>
      <p:bldP spid="16" grpId="0" animBg="1"/>
      <p:bldP spid="18" grpId="0" animBg="1"/>
      <p:bldP spid="20" grpId="0" animBg="1"/>
      <p:bldP spid="24" grpId="0" animBg="1"/>
      <p:bldP spid="26" grpId="0" animBg="1"/>
      <p:bldP spid="28" grpId="0" animBg="1"/>
      <p:bldP spid="30" grpId="0" animBg="1"/>
      <p:bldP spid="32" grpId="0" animBg="1"/>
      <p:bldP spid="34" grpId="0" animBg="1"/>
      <p:bldP spid="3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E5C8A"/>
          </a:solidFill>
          <a:ln w="12700">
            <a:solidFill>
              <a:srgbClr val="0E5C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OLTP na prática — O sistema de um banco digital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8686800" cy="658368"/>
          </a:xfrm>
          <a:prstGeom prst="rect">
            <a:avLst/>
          </a:prstGeom>
          <a:solidFill>
            <a:srgbClr val="E8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o app do Nubank: a cada segundo, milhares de clientes fazem transferências, pagamentos e consultas. Cada operação precisa ser registrada imediatamente e com 100% de precisão.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28600" y="1783080"/>
            <a:ext cx="2834640" cy="384048"/>
          </a:xfrm>
          <a:prstGeom prst="rect">
            <a:avLst/>
          </a:prstGeom>
          <a:solidFill>
            <a:srgbClr val="0E5C8A"/>
          </a:solidFill>
          <a:ln w="12700">
            <a:solidFill>
              <a:srgbClr val="0E5C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78308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Transferência PIX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28600" y="2167128"/>
            <a:ext cx="2834640" cy="1188720"/>
          </a:xfrm>
          <a:prstGeom prst="rect">
            <a:avLst/>
          </a:prstGeom>
          <a:solidFill>
            <a:srgbClr val="0D2137"/>
          </a:solidFill>
          <a:ln w="12700">
            <a:solidFill>
              <a:srgbClr val="0E5C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212848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conta SET saldo = saldo - 500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id = 1234;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transacoes VALUES (...);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1783080"/>
            <a:ext cx="2834640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78308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de saldo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200400" y="2167128"/>
            <a:ext cx="2834640" cy="1188720"/>
          </a:xfrm>
          <a:prstGeom prst="rect">
            <a:avLst/>
          </a:prstGeom>
          <a:solidFill>
            <a:srgbClr val="0D2137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2212848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saldo, limite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conta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id = 1234;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72200" y="1783080"/>
            <a:ext cx="283464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178308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Bloqueio de cartão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172200" y="2167128"/>
            <a:ext cx="2834640" cy="1188720"/>
          </a:xfrm>
          <a:prstGeom prst="rect">
            <a:avLst/>
          </a:prstGeom>
          <a:solidFill>
            <a:srgbClr val="0D213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2212848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cartao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status = "bloqueado"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cliente_id = 1234;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28600" y="349300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o OLTP exige ACID?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28600" y="3858768"/>
            <a:ext cx="202996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28600" y="3858768"/>
            <a:ext cx="347472" cy="914400"/>
          </a:xfrm>
          <a:prstGeom prst="rect">
            <a:avLst/>
          </a:prstGeom>
          <a:solidFill>
            <a:srgbClr val="0E5C8A"/>
          </a:solidFill>
          <a:ln w="12700">
            <a:solidFill>
              <a:srgbClr val="0E5C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" y="3858768"/>
            <a:ext cx="3474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30936" y="3913632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Atomicidade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0936" y="4187952"/>
            <a:ext cx="15727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operação é tudo ou nada. Se falhar no meio, reverte tudo.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404872" y="3858768"/>
            <a:ext cx="202996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404872" y="3858768"/>
            <a:ext cx="347472" cy="914400"/>
          </a:xfrm>
          <a:prstGeom prst="rect">
            <a:avLst/>
          </a:prstGeom>
          <a:solidFill>
            <a:srgbClr val="0E5C8A"/>
          </a:solidFill>
          <a:ln w="12700">
            <a:solidFill>
              <a:srgbClr val="0E5C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04872" y="3858768"/>
            <a:ext cx="3474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2807208" y="3913632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Consistência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807208" y="4187952"/>
            <a:ext cx="15727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banco sempre vai de um estado válido para outro.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81144" y="3858768"/>
            <a:ext cx="202996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81144" y="3858768"/>
            <a:ext cx="347472" cy="914400"/>
          </a:xfrm>
          <a:prstGeom prst="rect">
            <a:avLst/>
          </a:prstGeom>
          <a:solidFill>
            <a:srgbClr val="0E5C8A"/>
          </a:solidFill>
          <a:ln w="12700">
            <a:solidFill>
              <a:srgbClr val="0E5C8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81144" y="3858768"/>
            <a:ext cx="3474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4983480" y="3913632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Isolamento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983480" y="4187952"/>
            <a:ext cx="15727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Transações simultâneas não interferem entre si.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757416" y="3858768"/>
            <a:ext cx="202996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757416" y="3858768"/>
            <a:ext cx="347472" cy="914400"/>
          </a:xfrm>
          <a:prstGeom prst="rect">
            <a:avLst/>
          </a:prstGeom>
          <a:solidFill>
            <a:srgbClr val="0E5C8A"/>
          </a:solidFill>
          <a:ln w="12700">
            <a:solidFill>
              <a:srgbClr val="0E5C8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57416" y="3858768"/>
            <a:ext cx="3474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7159752" y="3913632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Durabilidade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159752" y="4187952"/>
            <a:ext cx="15727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confirmados nunca se perdem, mesmo com falha.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2" grpId="0" animBg="1"/>
      <p:bldP spid="14" grpId="0" animBg="1"/>
      <p:bldP spid="16" grpId="0" animBg="1"/>
      <p:bldP spid="18" grpId="0" animBg="1"/>
      <p:bldP spid="19" grpId="0" animBg="1"/>
      <p:bldP spid="22" grpId="0" animBg="1"/>
      <p:bldP spid="23" grpId="0" animBg="1"/>
      <p:bldP spid="24" grpId="0" animBg="1"/>
      <p:bldP spid="27" grpId="0" animBg="1"/>
      <p:bldP spid="28" grpId="0" animBg="1"/>
      <p:bldP spid="29" grpId="0" animBg="1"/>
      <p:bldP spid="32" grpId="0" animBg="1"/>
      <p:bldP spid="33" grpId="0" animBg="1"/>
      <p:bldP spid="34" grpId="0" animBg="1"/>
      <p:bldP spid="37" grpId="0" animBg="1"/>
      <p:bldP spid="38" grpId="0" animBg="1"/>
      <p:bldP spid="3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OLAP na prática — Business Intelligence no varejo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8686800" cy="658368"/>
          </a:xfrm>
          <a:prstGeom prst="rect">
            <a:avLst/>
          </a:prstGeom>
          <a:solidFill>
            <a:srgbClr val="FFF8EC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Magazine Luiza quer saber: qual o ticket médio de venda por categoria de produto, por estado, nos últimos 3 anos? Essa consulta analisa BILHÕES de transações — impossível para um banco OLTP.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28600" y="178308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OLAP típica: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8600" y="2148840"/>
            <a:ext cx="5303520" cy="1417320"/>
          </a:xfrm>
          <a:prstGeom prst="rect">
            <a:avLst/>
          </a:prstGeom>
          <a:solidFill>
            <a:srgbClr val="0D213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19456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categoria, estado,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5760" y="237744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AVG(valor_venda) AS ticket_medio,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" y="256032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COUNT(*) AS total_vendas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5760" y="274320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vendas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5760" y="292608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data BETWEEN '2021-01-01' AND '2024-01-01'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65760" y="310896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categoria, estado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65760" y="329184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ticket_medio DESC;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760720" y="17830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banco colunar faz: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760720" y="2148840"/>
            <a:ext cx="3108960" cy="292608"/>
          </a:xfrm>
          <a:prstGeom prst="rect">
            <a:avLst/>
          </a:prstGeom>
          <a:solidFill>
            <a:srgbClr val="FFF8E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33872" y="2148840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Lê APENAS as colunas categoria, estado e valor_venda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760720" y="2496312"/>
            <a:ext cx="31089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33872" y="2496312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Ignora completamente as outras 20+ colunas da tabela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760720" y="2843784"/>
            <a:ext cx="3108960" cy="292608"/>
          </a:xfrm>
          <a:prstGeom prst="rect">
            <a:avLst/>
          </a:prstGeom>
          <a:solidFill>
            <a:srgbClr val="FFF8E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33872" y="2843784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Comprime e processa os dados vetorizando operações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760720" y="3191256"/>
            <a:ext cx="31089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33872" y="3191256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Retorna resultado em segundos (vs horas no OLTP)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" y="3703320"/>
            <a:ext cx="8686800" cy="1097280"/>
          </a:xfrm>
          <a:prstGeom prst="rect">
            <a:avLst/>
          </a:prstGeom>
          <a:solidFill>
            <a:srgbClr val="E8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74904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um Data Warehouse?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11480" y="4069080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Data Warehouse (DW) é um repositório centralizado otimizado para consultas analíticas (OLAP). Diferente de um banco transacional, ele recebe dados de diversas fontes (ETL), organiza em estruturas otimizadas para leitura e serve como base para relatórios de BI, dashboards e machine learning.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8" grpId="0" animBg="1"/>
      <p:bldP spid="20" grpId="0" animBg="1"/>
      <p:bldP spid="22" grpId="0" animBg="1"/>
      <p:bldP spid="24" grpId="0" animBg="1"/>
      <p:bldP spid="26" grpId="0" animBg="1"/>
      <p:bldP spid="2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os dados são armazenados no disco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71323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diferença fundamental entre bancos orientados a linha e a coluna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078992"/>
            <a:ext cx="502920" cy="292608"/>
          </a:xfrm>
          <a:prstGeom prst="rect">
            <a:avLst/>
          </a:prstGeom>
          <a:solidFill>
            <a:srgbClr val="334155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78992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078992"/>
            <a:ext cx="1280160" cy="292608"/>
          </a:xfrm>
          <a:prstGeom prst="rect">
            <a:avLst/>
          </a:prstGeom>
          <a:solidFill>
            <a:srgbClr val="334155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078992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0" y="1078992"/>
            <a:ext cx="1463040" cy="292608"/>
          </a:xfrm>
          <a:prstGeom prst="rect">
            <a:avLst/>
          </a:prstGeom>
          <a:solidFill>
            <a:srgbClr val="334155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0" y="107899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Departamento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74720" y="1078992"/>
            <a:ext cx="914400" cy="292608"/>
          </a:xfrm>
          <a:prstGeom prst="rect">
            <a:avLst/>
          </a:prstGeom>
          <a:solidFill>
            <a:srgbClr val="334155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107899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Salário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89120" y="1078992"/>
            <a:ext cx="1051560" cy="292608"/>
          </a:xfrm>
          <a:prstGeom prst="rect">
            <a:avLst/>
          </a:prstGeom>
          <a:solidFill>
            <a:srgbClr val="334155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0" y="1078992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Cidade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" y="1371600"/>
            <a:ext cx="502920" cy="274320"/>
          </a:xfrm>
          <a:prstGeom prst="rect">
            <a:avLst/>
          </a:prstGeom>
          <a:solidFill>
            <a:srgbClr val="0E5C8A">
              <a:alpha val="80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" y="13716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31520" y="1371600"/>
            <a:ext cx="1280160" cy="274320"/>
          </a:xfrm>
          <a:prstGeom prst="rect">
            <a:avLst/>
          </a:prstGeom>
          <a:solidFill>
            <a:srgbClr val="0E5C8A">
              <a:alpha val="80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13716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011680" y="1371600"/>
            <a:ext cx="1463040" cy="274320"/>
          </a:xfrm>
          <a:prstGeom prst="rect">
            <a:avLst/>
          </a:prstGeom>
          <a:solidFill>
            <a:srgbClr val="0E5C8A">
              <a:alpha val="80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11680" y="13716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474720" y="1371600"/>
            <a:ext cx="914400" cy="274320"/>
          </a:xfrm>
          <a:prstGeom prst="rect">
            <a:avLst/>
          </a:prstGeom>
          <a:solidFill>
            <a:srgbClr val="0E5C8A">
              <a:alpha val="80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371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5.200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389120" y="1371600"/>
            <a:ext cx="1051560" cy="274320"/>
          </a:xfrm>
          <a:prstGeom prst="rect">
            <a:avLst/>
          </a:prstGeom>
          <a:solidFill>
            <a:srgbClr val="0E5C8A">
              <a:alpha val="80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0" y="137160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28600" y="1645920"/>
            <a:ext cx="502920" cy="274320"/>
          </a:xfrm>
          <a:prstGeom prst="rect">
            <a:avLst/>
          </a:prstGeom>
          <a:solidFill>
            <a:srgbClr val="0E5C8A">
              <a:alpha val="80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" y="16459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31520" y="1645920"/>
            <a:ext cx="1280160" cy="274320"/>
          </a:xfrm>
          <a:prstGeom prst="rect">
            <a:avLst/>
          </a:prstGeom>
          <a:solidFill>
            <a:srgbClr val="0E5C8A">
              <a:alpha val="80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16459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Bruno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011680" y="1645920"/>
            <a:ext cx="1463040" cy="274320"/>
          </a:xfrm>
          <a:prstGeom prst="rect">
            <a:avLst/>
          </a:prstGeom>
          <a:solidFill>
            <a:srgbClr val="0E5C8A">
              <a:alpha val="80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11680" y="16459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474720" y="1645920"/>
            <a:ext cx="914400" cy="274320"/>
          </a:xfrm>
          <a:prstGeom prst="rect">
            <a:avLst/>
          </a:prstGeom>
          <a:solidFill>
            <a:srgbClr val="0E5C8A">
              <a:alpha val="80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0" y="1645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7.800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389120" y="1645920"/>
            <a:ext cx="1051560" cy="274320"/>
          </a:xfrm>
          <a:prstGeom prst="rect">
            <a:avLst/>
          </a:prstGeom>
          <a:solidFill>
            <a:srgbClr val="0E5C8A">
              <a:alpha val="80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89120" y="164592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RJ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28600" y="1920240"/>
            <a:ext cx="502920" cy="274320"/>
          </a:xfrm>
          <a:prstGeom prst="rect">
            <a:avLst/>
          </a:prstGeom>
          <a:solidFill>
            <a:srgbClr val="1E3A5F">
              <a:alpha val="70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8600" y="192024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31520" y="1920240"/>
            <a:ext cx="1280160" cy="274320"/>
          </a:xfrm>
          <a:prstGeom prst="rect">
            <a:avLst/>
          </a:prstGeom>
          <a:solidFill>
            <a:srgbClr val="1E3A5F">
              <a:alpha val="70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1520" y="19202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Carla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011680" y="1920240"/>
            <a:ext cx="1463040" cy="274320"/>
          </a:xfrm>
          <a:prstGeom prst="rect">
            <a:avLst/>
          </a:prstGeom>
          <a:solidFill>
            <a:srgbClr val="1E3A5F">
              <a:alpha val="70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11680" y="19202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474720" y="1920240"/>
            <a:ext cx="914400" cy="274320"/>
          </a:xfrm>
          <a:prstGeom prst="rect">
            <a:avLst/>
          </a:prstGeom>
          <a:solidFill>
            <a:srgbClr val="1E3A5F">
              <a:alpha val="70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74720" y="1920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9.100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389120" y="1920240"/>
            <a:ext cx="1051560" cy="274320"/>
          </a:xfrm>
          <a:prstGeom prst="rect">
            <a:avLst/>
          </a:prstGeom>
          <a:solidFill>
            <a:srgbClr val="1E3A5F">
              <a:alpha val="70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89120" y="192024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228600" y="2194560"/>
            <a:ext cx="502920" cy="274320"/>
          </a:xfrm>
          <a:prstGeom prst="rect">
            <a:avLst/>
          </a:prstGeom>
          <a:solidFill>
            <a:srgbClr val="162D4A">
              <a:alpha val="70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28600" y="219456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731520" y="2194560"/>
            <a:ext cx="1280160" cy="274320"/>
          </a:xfrm>
          <a:prstGeom prst="rect">
            <a:avLst/>
          </a:prstGeom>
          <a:solidFill>
            <a:srgbClr val="162D4A">
              <a:alpha val="70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31520" y="21945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Diego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2011680" y="2194560"/>
            <a:ext cx="1463040" cy="274320"/>
          </a:xfrm>
          <a:prstGeom prst="rect">
            <a:avLst/>
          </a:prstGeom>
          <a:solidFill>
            <a:srgbClr val="162D4A">
              <a:alpha val="70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011680" y="21945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3474720" y="2194560"/>
            <a:ext cx="914400" cy="274320"/>
          </a:xfrm>
          <a:prstGeom prst="rect">
            <a:avLst/>
          </a:prstGeom>
          <a:solidFill>
            <a:srgbClr val="162D4A">
              <a:alpha val="70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474720" y="21945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4.500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4389120" y="2194560"/>
            <a:ext cx="1051560" cy="274320"/>
          </a:xfrm>
          <a:prstGeom prst="rect">
            <a:avLst/>
          </a:prstGeom>
          <a:solidFill>
            <a:srgbClr val="162D4A">
              <a:alpha val="70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389120" y="219456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228600" y="2514600"/>
            <a:ext cx="5257800" cy="320040"/>
          </a:xfrm>
          <a:prstGeom prst="rect">
            <a:avLst/>
          </a:prstGeom>
          <a:solidFill>
            <a:srgbClr val="0E5C8A"/>
          </a:solidFill>
          <a:ln w="12700">
            <a:solidFill>
              <a:srgbClr val="0E5C8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20040" y="2514600"/>
            <a:ext cx="5166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orientado a LINHA — como é gravado no disco: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228600" y="2852928"/>
            <a:ext cx="5257800" cy="274320"/>
          </a:xfrm>
          <a:prstGeom prst="rect">
            <a:avLst/>
          </a:prstGeom>
          <a:solidFill>
            <a:srgbClr val="0E5C8A">
              <a:alpha val="50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20040" y="285292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1: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960120" y="285292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| Ana | Vendas | 5.200 | SP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228600" y="3145536"/>
            <a:ext cx="5257800" cy="274320"/>
          </a:xfrm>
          <a:prstGeom prst="rect">
            <a:avLst/>
          </a:prstGeom>
          <a:solidFill>
            <a:srgbClr val="0E5C8A">
              <a:alpha val="50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20040" y="314553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2: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960120" y="314553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| Bruno | TI | 7.800 | RJ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228600" y="3438144"/>
            <a:ext cx="5257800" cy="274320"/>
          </a:xfrm>
          <a:prstGeom prst="rect">
            <a:avLst/>
          </a:prstGeom>
          <a:solidFill>
            <a:srgbClr val="1E3A5F">
              <a:alpha val="80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20040" y="343814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3: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960120" y="343814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| Carla | Vendas | 9.100 | SP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228600" y="3730752"/>
            <a:ext cx="5257800" cy="274320"/>
          </a:xfrm>
          <a:prstGeom prst="rect">
            <a:avLst/>
          </a:prstGeom>
          <a:solidFill>
            <a:srgbClr val="1E3A5F">
              <a:alpha val="80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20040" y="37307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4: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960120" y="373075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| Diego | RH | 4.500 | MG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228600" y="4041648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calcular AVG(Salário): lê os 4 blocos completos → processa campos desnecessários → alto I/O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5669280" y="2514600"/>
            <a:ext cx="3246120" cy="320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742432" y="251460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colunar — armazenamento: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5669280" y="2852928"/>
            <a:ext cx="3246120" cy="228600"/>
          </a:xfrm>
          <a:prstGeom prst="rect">
            <a:avLst/>
          </a:prstGeom>
          <a:solidFill>
            <a:srgbClr val="1E3A5F">
              <a:alpha val="80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742432" y="2852928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6336792" y="285292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| 2 | 3 | 4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5669280" y="3090672"/>
            <a:ext cx="3246120" cy="228600"/>
          </a:xfrm>
          <a:prstGeom prst="rect">
            <a:avLst/>
          </a:prstGeom>
          <a:solidFill>
            <a:srgbClr val="1E3A5F">
              <a:alpha val="80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742432" y="3090672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Nome: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6336792" y="309067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 | Bruno | Carla | Diego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5669280" y="3328416"/>
            <a:ext cx="3246120" cy="228600"/>
          </a:xfrm>
          <a:prstGeom prst="rect">
            <a:avLst/>
          </a:prstGeom>
          <a:solidFill>
            <a:srgbClr val="1E3A5F">
              <a:alpha val="80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742432" y="3328416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Depto: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6336792" y="3328416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Vendas | TI | Vendas | RH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5669280" y="3566160"/>
            <a:ext cx="3246120" cy="228600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742432" y="3566160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Sal: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6336792" y="356616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5200 | 7800 | 9100 | 4500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5669280" y="3803904"/>
            <a:ext cx="3246120" cy="228600"/>
          </a:xfrm>
          <a:prstGeom prst="rect">
            <a:avLst/>
          </a:prstGeom>
          <a:solidFill>
            <a:srgbClr val="1E3A5F">
              <a:alpha val="80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742432" y="3803904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Cidade: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6336792" y="3803904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 | RJ | SP | MG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5669280" y="4041648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AVG(Salário): lê APENAS o bloco Sal → zero desperdício → muito menos I/O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Compressão — o superpoder dos bancos colunares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1005840"/>
            <a:ext cx="8686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dados colunares comprimem muito melhor?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28600" y="1353312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um banco por linha, cada bloco contém tipos de dados diferentes (texto, número, data...) misturados. Em um banco colunar, cada bloco contém apenas um tipo — o que torna algoritmos de compressão extremamente eficientes.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" y="1920240"/>
            <a:ext cx="8686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1920240"/>
            <a:ext cx="64008" cy="868680"/>
          </a:xfrm>
          <a:prstGeom prst="rect">
            <a:avLst/>
          </a:prstGeom>
          <a:solidFill>
            <a:srgbClr val="0E5C8A"/>
          </a:solidFill>
          <a:ln w="12700">
            <a:solidFill>
              <a:srgbClr val="0E5C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97510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Run-Length Encoding (RLE)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4048" y="23957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Coluna 'estado' com muitos valores repetidos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291840" y="201168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Antes: SP | SP | SP | SP | SP | RJ | RJ | SP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291840" y="2322576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5C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Depois: 5x SP | 2x RJ | 1x SP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498080" y="2103120"/>
            <a:ext cx="1261872" cy="502920"/>
          </a:xfrm>
          <a:prstGeom prst="rect">
            <a:avLst/>
          </a:prstGeom>
          <a:solidFill>
            <a:srgbClr val="0E5C8A"/>
          </a:solidFill>
          <a:ln w="12700">
            <a:solidFill>
              <a:srgbClr val="0E5C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0" y="2103120"/>
            <a:ext cx="12618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menor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28600" y="2880360"/>
            <a:ext cx="8686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28600" y="2880360"/>
            <a:ext cx="64008" cy="8686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293522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 Encoding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4048" y="33558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Coluna com poucos valores distintos (categoria)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291840" y="297180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Antes: Vendas | TI | Vendas | RH | Vendas | TI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291840" y="3282696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Depois: 0=Vendas, 1=TI, 2=RH → 0|1|0|2|0|1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498080" y="3063240"/>
            <a:ext cx="1261872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0" y="3063240"/>
            <a:ext cx="12618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menor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28600" y="3840480"/>
            <a:ext cx="8686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28600" y="3840480"/>
            <a:ext cx="64008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389534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Encoding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84048" y="43159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Colunas numéricas sequenciais (IDs, timestamps)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291840" y="393192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Antes: 1000 | 1005 | 1012 | 1019 | 1023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291840" y="4242816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Depois: 1000 | +5 | +7 | +7 | +4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498080" y="4023360"/>
            <a:ext cx="1261872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0" y="4023360"/>
            <a:ext cx="12618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menor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228600" y="4805172"/>
            <a:ext cx="8686800" cy="292608"/>
          </a:xfrm>
          <a:prstGeom prst="rect">
            <a:avLst/>
          </a:prstGeom>
          <a:solidFill>
            <a:srgbClr val="10B981">
              <a:alpha val="8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4805172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prática: bancos colunares como BigQuery e Redshift atingem taxas de compressão de 5x a 20x em comparação com bancos relacionais convencionais.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7" grpId="0" animBg="1"/>
      <p:bldP spid="18" grpId="0" animBg="1"/>
      <p:bldP spid="19" grpId="0" animBg="1"/>
      <p:bldP spid="20" grpId="0" animBg="1"/>
      <p:bldP spid="22" grpId="0" animBg="1"/>
      <p:bldP spid="25" grpId="0" animBg="1"/>
      <p:bldP spid="26" grpId="0" animBg="1"/>
      <p:bldP spid="27" grpId="0" animBg="1"/>
      <p:bldP spid="28" grpId="0" animBg="1"/>
      <p:bldP spid="30" grpId="0" animBg="1"/>
      <p:bldP spid="3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Vantagens e Desvantagens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416052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0584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1792" y="960120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VANTAGENS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28600" y="1399032"/>
            <a:ext cx="4160520" cy="566928"/>
          </a:xfrm>
          <a:prstGeom prst="rect">
            <a:avLst/>
          </a:prstGeom>
          <a:solidFill>
            <a:srgbClr val="F0FDF4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92608" y="150876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" y="1426464"/>
            <a:ext cx="3703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analítica muito mais rápida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66928" y="1673352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Lê apenas colunas necessárias → menos I/O, menos memória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28600" y="2020824"/>
            <a:ext cx="41605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92608" y="2130552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6928" y="2048256"/>
            <a:ext cx="3703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Compressão superior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66928" y="2295144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do mesmo tipo comprimem até 20x melhor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228600" y="2642616"/>
            <a:ext cx="4160520" cy="566928"/>
          </a:xfrm>
          <a:prstGeom prst="rect">
            <a:avLst/>
          </a:prstGeom>
          <a:solidFill>
            <a:srgbClr val="F0FDF4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92608" y="2752344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66928" y="2670048"/>
            <a:ext cx="3703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Processamento vetorizado (SIMD)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566928" y="2916936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CPUs modernas operam em múltiplos valores de uma vez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228600" y="3264408"/>
            <a:ext cx="41605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92608" y="3374136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66928" y="3291840"/>
            <a:ext cx="3703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Escalabilidade massiva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566928" y="3538728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Projetado para petabytes; escala horizontalmente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228600" y="3886200"/>
            <a:ext cx="4160520" cy="566928"/>
          </a:xfrm>
          <a:prstGeom prst="rect">
            <a:avLst/>
          </a:prstGeom>
          <a:solidFill>
            <a:srgbClr val="F0FDF4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274320" y="3995928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48640" y="3913632"/>
            <a:ext cx="3703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 BI e Data Science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548640" y="416052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Agregações, GROUP BY, AVG, SUM em bilhões de registros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4754880" y="960120"/>
            <a:ext cx="4160520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005840"/>
            <a:ext cx="274320" cy="27432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5148072" y="960120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DESVANTAGENS</a:t>
            </a:r>
            <a:endParaRPr lang="en-US" sz="1400" dirty="0"/>
          </a:p>
        </p:txBody>
      </p:sp>
      <p:sp>
        <p:nvSpPr>
          <p:cNvPr id="31" name="Shape 27"/>
          <p:cNvSpPr/>
          <p:nvPr/>
        </p:nvSpPr>
        <p:spPr>
          <a:xfrm>
            <a:off x="4754880" y="1399032"/>
            <a:ext cx="4160520" cy="566928"/>
          </a:xfrm>
          <a:prstGeom prst="rect">
            <a:avLst/>
          </a:prstGeom>
          <a:solidFill>
            <a:srgbClr val="FFF5F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4818888" y="1508760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5093208" y="1426464"/>
            <a:ext cx="3703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Inserção e atualização lentas</a:t>
            </a:r>
            <a:endParaRPr lang="en-US" sz="1150" dirty="0"/>
          </a:p>
        </p:txBody>
      </p:sp>
      <p:sp>
        <p:nvSpPr>
          <p:cNvPr id="34" name="Text 30"/>
          <p:cNvSpPr/>
          <p:nvPr/>
        </p:nvSpPr>
        <p:spPr>
          <a:xfrm>
            <a:off x="5093208" y="1673352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INSERT precisa atualizar N arquivos de colunas separados</a:t>
            </a:r>
            <a:endParaRPr lang="en-US" sz="1050" dirty="0"/>
          </a:p>
        </p:txBody>
      </p:sp>
      <p:sp>
        <p:nvSpPr>
          <p:cNvPr id="35" name="Shape 31"/>
          <p:cNvSpPr/>
          <p:nvPr/>
        </p:nvSpPr>
        <p:spPr>
          <a:xfrm>
            <a:off x="4754880" y="2020824"/>
            <a:ext cx="41605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4818888" y="2130552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5093208" y="2048256"/>
            <a:ext cx="3703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Inadequado para OLTP</a:t>
            </a:r>
            <a:endParaRPr lang="en-US" sz="1150" dirty="0"/>
          </a:p>
        </p:txBody>
      </p:sp>
      <p:sp>
        <p:nvSpPr>
          <p:cNvPr id="38" name="Text 34"/>
          <p:cNvSpPr/>
          <p:nvPr/>
        </p:nvSpPr>
        <p:spPr>
          <a:xfrm>
            <a:off x="5093208" y="2295144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Péssimo para transações individuais e frequentes</a:t>
            </a:r>
            <a:endParaRPr lang="en-US" sz="1050" dirty="0"/>
          </a:p>
        </p:txBody>
      </p:sp>
      <p:sp>
        <p:nvSpPr>
          <p:cNvPr id="39" name="Shape 35"/>
          <p:cNvSpPr/>
          <p:nvPr/>
        </p:nvSpPr>
        <p:spPr>
          <a:xfrm>
            <a:off x="4754880" y="2642616"/>
            <a:ext cx="4160520" cy="566928"/>
          </a:xfrm>
          <a:prstGeom prst="rect">
            <a:avLst/>
          </a:prstGeom>
          <a:solidFill>
            <a:srgbClr val="FFF5F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4818888" y="2752344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5093208" y="2670048"/>
            <a:ext cx="3703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de registros completos mais cara</a:t>
            </a:r>
            <a:endParaRPr lang="en-US" sz="1150" dirty="0"/>
          </a:p>
        </p:txBody>
      </p:sp>
      <p:sp>
        <p:nvSpPr>
          <p:cNvPr id="42" name="Text 38"/>
          <p:cNvSpPr/>
          <p:nvPr/>
        </p:nvSpPr>
        <p:spPr>
          <a:xfrm>
            <a:off x="5093208" y="2916936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* é custoso; precisa juntar todas as colunas</a:t>
            </a:r>
            <a:endParaRPr lang="en-US" sz="1050" dirty="0"/>
          </a:p>
        </p:txBody>
      </p:sp>
      <p:sp>
        <p:nvSpPr>
          <p:cNvPr id="43" name="Shape 39"/>
          <p:cNvSpPr/>
          <p:nvPr/>
        </p:nvSpPr>
        <p:spPr>
          <a:xfrm>
            <a:off x="4754880" y="3264408"/>
            <a:ext cx="41605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4818888" y="3374136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5093208" y="3291840"/>
            <a:ext cx="3703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complexidade operacional</a:t>
            </a:r>
            <a:endParaRPr lang="en-US" sz="1150" dirty="0"/>
          </a:p>
        </p:txBody>
      </p:sp>
      <p:sp>
        <p:nvSpPr>
          <p:cNvPr id="46" name="Text 42"/>
          <p:cNvSpPr/>
          <p:nvPr/>
        </p:nvSpPr>
        <p:spPr>
          <a:xfrm>
            <a:off x="5093208" y="3538728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Configuração, tuning e manutenção mais exigentes</a:t>
            </a:r>
            <a:endParaRPr lang="en-US" sz="1050" dirty="0"/>
          </a:p>
        </p:txBody>
      </p:sp>
      <p:sp>
        <p:nvSpPr>
          <p:cNvPr id="47" name="Shape 43"/>
          <p:cNvSpPr/>
          <p:nvPr/>
        </p:nvSpPr>
        <p:spPr>
          <a:xfrm>
            <a:off x="4754880" y="3886200"/>
            <a:ext cx="4160520" cy="566928"/>
          </a:xfrm>
          <a:prstGeom prst="rect">
            <a:avLst/>
          </a:prstGeom>
          <a:solidFill>
            <a:srgbClr val="FFF5F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4818888" y="3995928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5093208" y="3913632"/>
            <a:ext cx="3703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pode ser alto</a:t>
            </a:r>
            <a:endParaRPr lang="en-US" sz="1150" dirty="0"/>
          </a:p>
        </p:txBody>
      </p:sp>
      <p:sp>
        <p:nvSpPr>
          <p:cNvPr id="50" name="Text 46"/>
          <p:cNvSpPr/>
          <p:nvPr/>
        </p:nvSpPr>
        <p:spPr>
          <a:xfrm>
            <a:off x="5093208" y="416052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Soluções cloud (BigQuery, Redshift) cobram por TB processado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4" grpId="0" animBg="1"/>
      <p:bldP spid="15" grpId="0" animBg="1"/>
      <p:bldP spid="18" grpId="0" animBg="1"/>
      <p:bldP spid="19" grpId="0" animBg="1"/>
      <p:bldP spid="22" grpId="0" animBg="1"/>
      <p:bldP spid="23" grpId="0" animBg="1"/>
      <p:bldP spid="26" grpId="0" animBg="1"/>
      <p:bldP spid="27" grpId="0" animBg="1"/>
      <p:bldP spid="33" grpId="0" animBg="1"/>
      <p:bldP spid="34" grpId="0" animBg="1"/>
      <p:bldP spid="37" grpId="0" animBg="1"/>
      <p:bldP spid="38" grpId="0" animBg="1"/>
      <p:bldP spid="41" grpId="0" animBg="1"/>
      <p:bldP spid="42" grpId="0" animBg="1"/>
      <p:bldP spid="45" grpId="0" animBg="1"/>
      <p:bldP spid="46" grpId="0" animBg="1"/>
      <p:bldP spid="49" grpId="0" animBg="1"/>
      <p:bldP spid="5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Tecnologias do mercado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principais bancos de dados e formatos colunares em uso hoje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051560"/>
            <a:ext cx="4224528" cy="1207008"/>
          </a:xfrm>
          <a:prstGeom prst="rect">
            <a:avLst/>
          </a:prstGeom>
          <a:solidFill>
            <a:srgbClr val="1E3A5F">
              <a:alpha val="9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051560"/>
            <a:ext cx="4224528" cy="365760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" y="10515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Redshift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108960" y="1115568"/>
            <a:ext cx="1234440" cy="237744"/>
          </a:xfrm>
          <a:prstGeom prst="rect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0" y="1115568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Data Warehouse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38328" y="1453896"/>
            <a:ext cx="39776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 da AWS, totalmente gerenciado, paga por nó. Usado por empresas como Airbnb e Yelp para análises de bilhões de registros.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81728" y="1051560"/>
            <a:ext cx="4224528" cy="1207008"/>
          </a:xfrm>
          <a:prstGeom prst="rect">
            <a:avLst/>
          </a:prstGeom>
          <a:solidFill>
            <a:srgbClr val="1E3A5F">
              <a:alpha val="90000"/>
            </a:srgbClr>
          </a:solidFill>
          <a:ln w="12700">
            <a:solidFill>
              <a:srgbClr val="0E5C8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81728" y="1051560"/>
            <a:ext cx="4224528" cy="365760"/>
          </a:xfrm>
          <a:prstGeom prst="rect">
            <a:avLst/>
          </a:prstGeom>
          <a:solidFill>
            <a:srgbClr val="0E5C8A">
              <a:alpha val="80000"/>
            </a:srgbClr>
          </a:solidFill>
          <a:ln w="12700">
            <a:solidFill>
              <a:srgbClr val="0E5C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91456" y="10515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BigQuery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562088" y="1115568"/>
            <a:ext cx="1234440" cy="237744"/>
          </a:xfrm>
          <a:prstGeom prst="rect">
            <a:avLst/>
          </a:prstGeom>
          <a:solidFill>
            <a:srgbClr val="0E5C8A">
              <a:alpha val="70000"/>
            </a:srgbClr>
          </a:solidFill>
          <a:ln w="12700">
            <a:solidFill>
              <a:srgbClr val="0E5C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62088" y="1115568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Analytics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791456" y="1453896"/>
            <a:ext cx="39776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 por TB processado. Sem infraestrutura para gerenciar. Extremamente popular em startups e empresas data-driven.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28600" y="2350008"/>
            <a:ext cx="4224528" cy="1207008"/>
          </a:xfrm>
          <a:prstGeom prst="rect">
            <a:avLst/>
          </a:prstGeom>
          <a:solidFill>
            <a:srgbClr val="1E3A5F">
              <a:alpha val="9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" y="2350008"/>
            <a:ext cx="4224528" cy="365760"/>
          </a:xfrm>
          <a:prstGeom prst="rect">
            <a:avLst/>
          </a:prstGeom>
          <a:solidFill>
            <a:srgbClr val="06B6D4">
              <a:alpha val="8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" y="235000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108960" y="2414016"/>
            <a:ext cx="1234440" cy="237744"/>
          </a:xfrm>
          <a:prstGeom prst="rect">
            <a:avLst/>
          </a:prstGeom>
          <a:solidFill>
            <a:srgbClr val="06B6D4">
              <a:alpha val="7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08960" y="2414016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/ Multi-cloud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38328" y="2752344"/>
            <a:ext cx="39776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 armazenamento de processamento. Roda em AWS, Azure e GCP. Muito usado em data sharing entre empresas.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81728" y="2350008"/>
            <a:ext cx="4224528" cy="1207008"/>
          </a:xfrm>
          <a:prstGeom prst="rect">
            <a:avLst/>
          </a:prstGeom>
          <a:solidFill>
            <a:srgbClr val="1E3A5F">
              <a:alpha val="9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81728" y="2350008"/>
            <a:ext cx="4224528" cy="365760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91456" y="235000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ClickHouse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562088" y="2414016"/>
            <a:ext cx="1234440" cy="237744"/>
          </a:xfrm>
          <a:prstGeom prst="rect">
            <a:avLst/>
          </a:prstGeom>
          <a:solidFill>
            <a:srgbClr val="10B981">
              <a:alpha val="7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62088" y="2414016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OLAP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791456" y="2752344"/>
            <a:ext cx="39776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colunar open source de altíssima performance. Usado pelo Yandex e Cloudflare. Ideal para logs e analytics em tempo real.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28600" y="3648456"/>
            <a:ext cx="4224528" cy="1207008"/>
          </a:xfrm>
          <a:prstGeom prst="rect">
            <a:avLst/>
          </a:prstGeom>
          <a:solidFill>
            <a:srgbClr val="1E3A5F">
              <a:alpha val="9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8600" y="3648456"/>
            <a:ext cx="4224528" cy="365760"/>
          </a:xfrm>
          <a:prstGeom prst="rect">
            <a:avLst/>
          </a:prstGeom>
          <a:solidFill>
            <a:srgbClr val="22D3EE">
              <a:alpha val="8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8328" y="3648456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Parquet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108960" y="3712464"/>
            <a:ext cx="1234440" cy="237744"/>
          </a:xfrm>
          <a:prstGeom prst="rect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08960" y="3712464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de arquivo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38328" y="4050792"/>
            <a:ext cx="39776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de arquivo colunar, não é um banco. Amplamente usado com Spark, Pandas e dbt. Base dos data lakes modernos.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681728" y="3648456"/>
            <a:ext cx="4224528" cy="1207008"/>
          </a:xfrm>
          <a:prstGeom prst="rect">
            <a:avLst/>
          </a:prstGeom>
          <a:solidFill>
            <a:srgbClr val="1E3A5F">
              <a:alpha val="9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81728" y="3648456"/>
            <a:ext cx="4224528" cy="365760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91456" y="3648456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Cassandra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7562088" y="3712464"/>
            <a:ext cx="1234440" cy="237744"/>
          </a:xfrm>
          <a:prstGeom prst="rect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62088" y="3712464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Wide-column Store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791456" y="4050792"/>
            <a:ext cx="39776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Tecnicamente um wide-column store — diferente do modelo colunar clássico. Foco em alta disponibilidade e escrita rápida.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  <p:bldP spid="13" grpId="0" animBg="1"/>
      <p:bldP spid="15" grpId="0" animBg="1"/>
      <p:bldP spid="16" grpId="0" animBg="1"/>
      <p:bldP spid="19" grpId="0" animBg="1"/>
      <p:bldP spid="21" grpId="0" animBg="1"/>
      <p:bldP spid="22" grpId="0" animBg="1"/>
      <p:bldP spid="25" grpId="0" animBg="1"/>
      <p:bldP spid="27" grpId="0" animBg="1"/>
      <p:bldP spid="28" grpId="0" animBg="1"/>
      <p:bldP spid="31" grpId="0" animBg="1"/>
      <p:bldP spid="33" grpId="0" animBg="1"/>
      <p:bldP spid="34" grpId="0" animBg="1"/>
      <p:bldP spid="37" grpId="0" animBg="1"/>
      <p:bldP spid="39" grpId="0" animBg="1"/>
      <p:bldP spid="4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Parquet — o formato colunar mais usado no mundo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28600" y="987552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Parquet não é um banco de dados — é um formato de arquivo colunar open source. Ele é a peça central dos data lakes modernos e funciona com praticamente todas as ferramentas de dados.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28600" y="16002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um arquivo Parquet é estruturado: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8600" y="1965960"/>
            <a:ext cx="5029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1965960"/>
            <a:ext cx="54864" cy="384048"/>
          </a:xfrm>
          <a:prstGeom prst="rect">
            <a:avLst/>
          </a:prstGeom>
          <a:solidFill>
            <a:srgbClr val="0E5C8A"/>
          </a:solidFill>
          <a:ln w="12700">
            <a:solidFill>
              <a:srgbClr val="0E5C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96596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 Group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17520" y="196596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de ~128MB de linhas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8600" y="2386584"/>
            <a:ext cx="5029200" cy="384048"/>
          </a:xfrm>
          <a:prstGeom prst="rect">
            <a:avLst/>
          </a:prstGeom>
          <a:solidFill>
            <a:srgbClr val="E8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" y="2386584"/>
            <a:ext cx="54864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386584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└ Column Chunk: ID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017520" y="2386584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da coluna ID comprimidos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" y="2807208"/>
            <a:ext cx="5029200" cy="384048"/>
          </a:xfrm>
          <a:prstGeom prst="rect">
            <a:avLst/>
          </a:prstGeom>
          <a:solidFill>
            <a:srgbClr val="E8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" y="2807208"/>
            <a:ext cx="54864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280720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└ Column Chunk: Nome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17520" y="2807208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da coluna Nome comprimidos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28600" y="3227832"/>
            <a:ext cx="5029200" cy="384048"/>
          </a:xfrm>
          <a:prstGeom prst="rect">
            <a:avLst/>
          </a:prstGeom>
          <a:solidFill>
            <a:srgbClr val="E8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" y="3227832"/>
            <a:ext cx="54864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322783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└ Column Chunk: Salário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017520" y="3227832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de Salário + estatísticas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28600" y="3648456"/>
            <a:ext cx="5029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8600" y="3648456"/>
            <a:ext cx="54864" cy="384048"/>
          </a:xfrm>
          <a:prstGeom prst="rect">
            <a:avLst/>
          </a:prstGeom>
          <a:solidFill>
            <a:srgbClr val="0E5C8A"/>
          </a:solidFill>
          <a:ln w="12700">
            <a:solidFill>
              <a:srgbClr val="0E5C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3648456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 Group 2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017520" y="3648456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bloco de ~128MB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28600" y="4069080"/>
            <a:ext cx="5029200" cy="384048"/>
          </a:xfrm>
          <a:prstGeom prst="rect">
            <a:avLst/>
          </a:prstGeom>
          <a:solidFill>
            <a:srgbClr val="FFF8E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8600" y="4069080"/>
            <a:ext cx="54864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" y="406908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 Footer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017520" y="406908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+ localização de cada Column Chunk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577840" y="16002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Ecossistema Parquet: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577840" y="1965960"/>
            <a:ext cx="3337560" cy="384048"/>
          </a:xfrm>
          <a:prstGeom prst="rect">
            <a:avLst/>
          </a:prstGeom>
          <a:solidFill>
            <a:srgbClr val="E8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0" y="196596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Spark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315200" y="196596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Processamento distribuído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577840" y="2386584"/>
            <a:ext cx="33375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0" y="2386584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/ DuckDB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315200" y="2386584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local em Python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577840" y="2807208"/>
            <a:ext cx="3337560" cy="384048"/>
          </a:xfrm>
          <a:prstGeom prst="rect">
            <a:avLst/>
          </a:prstGeom>
          <a:solidFill>
            <a:srgbClr val="E8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0" y="2807208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315200" y="2807208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Transformação e modelagem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577840" y="3227832"/>
            <a:ext cx="33375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69280" y="322783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 / GCS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315200" y="3227832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Armazenamento no data lake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577840" y="3648456"/>
            <a:ext cx="3337560" cy="384048"/>
          </a:xfrm>
          <a:prstGeom prst="rect">
            <a:avLst/>
          </a:prstGeom>
          <a:solidFill>
            <a:srgbClr val="E8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669280" y="3648456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 / Athena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315200" y="3648456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direto do storage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577840" y="4069080"/>
            <a:ext cx="33375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669280" y="406908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Arrow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7315200" y="406908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in-memory colunar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228600" y="4544568"/>
            <a:ext cx="8686800" cy="347472"/>
          </a:xfrm>
          <a:prstGeom prst="rect">
            <a:avLst/>
          </a:prstGeom>
          <a:solidFill>
            <a:srgbClr val="0891B2">
              <a:alpha val="8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5760" y="45445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Dica: Parquet + DuckDB é hoje a forma mais rápida de analisar dados localmente em Python — sem nenhum servidor.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OLTP e OLAP convivem na mesma empresa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típica de dados em uma empresa de médio/grande porte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82880" y="1051560"/>
            <a:ext cx="1645920" cy="347472"/>
          </a:xfrm>
          <a:prstGeom prst="rect">
            <a:avLst/>
          </a:prstGeom>
          <a:solidFill>
            <a:srgbClr val="0E5C8A"/>
          </a:solidFill>
          <a:ln w="12700">
            <a:solidFill>
              <a:srgbClr val="0E5C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105156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 OLTP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2880" y="1444752"/>
            <a:ext cx="1645920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0E5C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444752"/>
            <a:ext cx="1508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(Salesforce)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2880" y="1901952"/>
            <a:ext cx="1645920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0E5C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1901952"/>
            <a:ext cx="1508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(MySQL)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82880" y="2359152"/>
            <a:ext cx="1645920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0E5C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2359152"/>
            <a:ext cx="1508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(SAP/Oracle)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2880" y="2816352"/>
            <a:ext cx="1645920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0E5C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" y="2816352"/>
            <a:ext cx="1508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mobile (PostgreSQL)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938528" y="1691640"/>
            <a:ext cx="822960" cy="1371600"/>
          </a:xfrm>
          <a:prstGeom prst="rect">
            <a:avLst/>
          </a:prstGeom>
          <a:solidFill>
            <a:srgbClr val="334155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38528" y="1691640"/>
            <a:ext cx="822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828800" y="2377440"/>
            <a:ext cx="109728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61488" y="2377440"/>
            <a:ext cx="18288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2944368" y="1051560"/>
            <a:ext cx="274320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44368" y="10515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 / Data Lake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944368" y="1444752"/>
            <a:ext cx="2743200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17520" y="144475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layer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14800" y="1444752"/>
            <a:ext cx="1508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brutos (Parquet, Avro)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944368" y="1901952"/>
            <a:ext cx="2743200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17520" y="190195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114800" y="1901952"/>
            <a:ext cx="1508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Limpeza e validação (dbt)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944368" y="2359152"/>
            <a:ext cx="2743200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17520" y="235915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/ DW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114800" y="2359152"/>
            <a:ext cx="1508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dimensionais (Star Schema)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944368" y="2816352"/>
            <a:ext cx="2743200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017520" y="281635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Marts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114800" y="2816352"/>
            <a:ext cx="1508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Subconjuntos por área de negócio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687568" y="2377440"/>
            <a:ext cx="22860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arrow"/>
          </a:ln>
        </p:spPr>
      </p:sp>
      <p:sp>
        <p:nvSpPr>
          <p:cNvPr id="34" name="Shape 32"/>
          <p:cNvSpPr/>
          <p:nvPr/>
        </p:nvSpPr>
        <p:spPr>
          <a:xfrm>
            <a:off x="5916168" y="1051560"/>
            <a:ext cx="301752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16168" y="105156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Consumidores OLAP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916168" y="1444752"/>
            <a:ext cx="3017520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89320" y="1444752"/>
            <a:ext cx="2880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&amp; Dashboards (Power BI, Looker)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916168" y="1901952"/>
            <a:ext cx="3017520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89320" y="1901952"/>
            <a:ext cx="2880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 executivos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916168" y="2359152"/>
            <a:ext cx="3017520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89320" y="2359152"/>
            <a:ext cx="2880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/ ML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916168" y="2816352"/>
            <a:ext cx="3017520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89320" y="2816352"/>
            <a:ext cx="2880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de dados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182880" y="3794760"/>
            <a:ext cx="8778240" cy="1051560"/>
          </a:xfrm>
          <a:prstGeom prst="rect">
            <a:avLst/>
          </a:prstGeom>
          <a:solidFill>
            <a:srgbClr val="1E3A5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38404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Conceitos-chave desta arquitetura: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365760" y="4142232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ETL (Extract, Transform, Load): processo de mover dados do OLTP para o DW, transformando o formato no caminho.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65760" y="448056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ELT: variante moderna onde os dados são carregados primeiro e transformados depois (comum no BigQuery e Snowflake).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754880" y="4142232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Star Schema: modelo dimensional com tabela fato no centro e tabelas dimensão ao redor — padrão nos data warehouses.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754880" y="448056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Mart: subconjunto do DW para uma área específica (financeiro, marketing) — melhora performance e governança.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usar cada abordagem — Guia de decisão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2834640" cy="38404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96012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960120"/>
            <a:ext cx="2834640" cy="384048"/>
          </a:xfrm>
          <a:prstGeom prst="rect">
            <a:avLst/>
          </a:prstGeom>
          <a:solidFill>
            <a:srgbClr val="0E5C8A"/>
          </a:solidFill>
          <a:ln w="12700">
            <a:solidFill>
              <a:srgbClr val="0E5C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96012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relacional (OLTP)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960120"/>
            <a:ext cx="283464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72200" y="96012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colunar (OLAP)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8600" y="1344168"/>
            <a:ext cx="2834640" cy="475488"/>
          </a:xfrm>
          <a:prstGeom prst="rect">
            <a:avLst/>
          </a:prstGeom>
          <a:solidFill>
            <a:srgbClr val="E8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1752" y="1344168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operação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1344168"/>
            <a:ext cx="2834640" cy="475488"/>
          </a:xfrm>
          <a:prstGeom prst="rect">
            <a:avLst/>
          </a:prstGeom>
          <a:solidFill>
            <a:srgbClr val="E8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73552" y="1344168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INSERT/UPDATE/DELETE frequentes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72200" y="1344168"/>
            <a:ext cx="2834640" cy="475488"/>
          </a:xfrm>
          <a:prstGeom prst="rect">
            <a:avLst/>
          </a:prstGeom>
          <a:solidFill>
            <a:srgbClr val="FFF8E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45352" y="1344168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com agregações analíticas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8600" y="1837944"/>
            <a:ext cx="2834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1752" y="1837944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de registros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0" y="1837944"/>
            <a:ext cx="2834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73552" y="1837944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Milhares a milhões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72200" y="1837944"/>
            <a:ext cx="2834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45352" y="1837944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Bilhões a trilhões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28600" y="2331720"/>
            <a:ext cx="2834640" cy="475488"/>
          </a:xfrm>
          <a:prstGeom prst="rect">
            <a:avLst/>
          </a:prstGeom>
          <a:solidFill>
            <a:srgbClr val="E8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1752" y="2331720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de leitura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0" y="2331720"/>
            <a:ext cx="2834640" cy="475488"/>
          </a:xfrm>
          <a:prstGeom prst="rect">
            <a:avLst/>
          </a:prstGeom>
          <a:solidFill>
            <a:srgbClr val="E8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73552" y="2331720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completo (todas colunas)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72200" y="2331720"/>
            <a:ext cx="2834640" cy="475488"/>
          </a:xfrm>
          <a:prstGeom prst="rect">
            <a:avLst/>
          </a:prstGeom>
          <a:solidFill>
            <a:srgbClr val="FFF8E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45352" y="2331720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Poucas colunas, muitas linhas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28600" y="2825496"/>
            <a:ext cx="2834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01752" y="2825496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Latência esperada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00400" y="2825496"/>
            <a:ext cx="2834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73552" y="2825496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Milissegundos por transação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172200" y="2825496"/>
            <a:ext cx="2834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45352" y="2825496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Segundos a minutos por query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28600" y="3319272"/>
            <a:ext cx="2834640" cy="475488"/>
          </a:xfrm>
          <a:prstGeom prst="rect">
            <a:avLst/>
          </a:prstGeom>
          <a:solidFill>
            <a:srgbClr val="E8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1752" y="3319272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de uso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200400" y="3319272"/>
            <a:ext cx="2834640" cy="475488"/>
          </a:xfrm>
          <a:prstGeom prst="rect">
            <a:avLst/>
          </a:prstGeom>
          <a:solidFill>
            <a:srgbClr val="E8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73552" y="3319272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bancário, e-commerce, ERP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172200" y="3319272"/>
            <a:ext cx="2834640" cy="475488"/>
          </a:xfrm>
          <a:prstGeom prst="rect">
            <a:avLst/>
          </a:prstGeom>
          <a:solidFill>
            <a:srgbClr val="FFF8E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45352" y="3319272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BI, dashboards, machine learning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28600" y="3813048"/>
            <a:ext cx="2834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01752" y="3813048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operacional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200400" y="3813048"/>
            <a:ext cx="2834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73552" y="3813048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Baixo a médio (on-premise viável)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172200" y="3813048"/>
            <a:ext cx="2834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45352" y="3813048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Médio a alto (cloud pay-per-query)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28600" y="4453128"/>
            <a:ext cx="8686800" cy="4572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445312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ouro: se a pergunta envolve um registro → OLTP. Se envolve um conjunto de registros para agregar → OLAP.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  <p:bldP spid="16" grpId="0" animBg="1"/>
      <p:bldP spid="18" grpId="0" animBg="1"/>
      <p:bldP spid="20" grpId="0" animBg="1"/>
      <p:bldP spid="24" grpId="0" animBg="1"/>
      <p:bldP spid="26" grpId="0" animBg="1"/>
      <p:bldP spid="32" grpId="0" animBg="1"/>
      <p:bldP spid="34" grpId="0" animBg="1"/>
      <p:bldP spid="38" grpId="0" animBg="1"/>
      <p:bldP spid="42" grpId="0" animBg="1"/>
      <p:bldP spid="44" grpId="0" animBg="1"/>
      <p:bldP spid="46" grpId="0" animBg="1"/>
      <p:bldP spid="4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 reais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 brasileiras e globais que usam bancos colunares hoje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051560"/>
            <a:ext cx="4224528" cy="1828800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051560"/>
            <a:ext cx="4224528" cy="438912"/>
          </a:xfrm>
          <a:prstGeom prst="rect">
            <a:avLst/>
          </a:prstGeom>
          <a:solidFill>
            <a:srgbClr val="F59E0B">
              <a:alpha val="7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" y="105156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iFood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971800" y="1143000"/>
            <a:ext cx="1371600" cy="256032"/>
          </a:xfrm>
          <a:prstGeom prst="rect">
            <a:avLst/>
          </a:prstGeom>
          <a:solidFill>
            <a:srgbClr val="F59E0B">
              <a:alpha val="6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71800" y="11430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38328" y="1563624"/>
            <a:ext cx="3977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 milhões de pedidos por dia para identificar padrões de entrega, ajustar preços dinâmicos e alimentar modelos de recomendação de restaurantes.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8328" y="2532888"/>
            <a:ext cx="3977640" cy="256032"/>
          </a:xfrm>
          <a:prstGeom prst="rect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" y="2532888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Impacto: Decisões em segundos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81728" y="1051560"/>
            <a:ext cx="4224528" cy="1828800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81728" y="1051560"/>
            <a:ext cx="4224528" cy="438912"/>
          </a:xfrm>
          <a:prstGeom prst="rect">
            <a:avLst/>
          </a:prstGeom>
          <a:solidFill>
            <a:srgbClr val="0891B2">
              <a:alpha val="7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91456" y="105156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Nubank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424928" y="1143000"/>
            <a:ext cx="1371600" cy="256032"/>
          </a:xfrm>
          <a:prstGeom prst="rect">
            <a:avLst/>
          </a:prstGeom>
          <a:solidFill>
            <a:srgbClr val="0891B2">
              <a:alpha val="6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24928" y="11430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Redshift + Spark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791456" y="1563624"/>
            <a:ext cx="3977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 bilhões de transações para detectar fraude em tempo real, calcular scores de crédito e gerar relatórios regulatórios para o Banco Central.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91456" y="2532888"/>
            <a:ext cx="3977640" cy="256032"/>
          </a:xfrm>
          <a:prstGeom prst="rect">
            <a:avLst/>
          </a:prstGeom>
          <a:solidFill>
            <a:srgbClr val="0891B2">
              <a:alpha val="3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91456" y="2532888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Impacto: 100M+ clientes analisados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28600" y="3017520"/>
            <a:ext cx="4224528" cy="1828800"/>
          </a:xfrm>
          <a:prstGeom prst="rect">
            <a:avLst/>
          </a:prstGeom>
          <a:solidFill>
            <a:srgbClr val="1E3A5F"/>
          </a:solidFill>
          <a:ln w="12700">
            <a:solidFill>
              <a:srgbClr val="0E5C8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" y="3017520"/>
            <a:ext cx="4224528" cy="438912"/>
          </a:xfrm>
          <a:prstGeom prst="rect">
            <a:avLst/>
          </a:prstGeom>
          <a:solidFill>
            <a:srgbClr val="0E5C8A">
              <a:alpha val="75000"/>
            </a:srgbClr>
          </a:solidFill>
          <a:ln w="12700">
            <a:solidFill>
              <a:srgbClr val="0E5C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" y="301752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Globo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2971800" y="3108960"/>
            <a:ext cx="1371600" cy="256032"/>
          </a:xfrm>
          <a:prstGeom prst="rect">
            <a:avLst/>
          </a:prstGeom>
          <a:solidFill>
            <a:srgbClr val="0E5C8A">
              <a:alpha val="60000"/>
            </a:srgbClr>
          </a:solidFill>
          <a:ln w="12700">
            <a:solidFill>
              <a:srgbClr val="0E5C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71800" y="31089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ClickHouse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38328" y="3529584"/>
            <a:ext cx="3977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Rastreia eventos de visualização do GloboPlay (cliques, pausas, conclusões) em tempo real para personalizar recomendações e otimizar CDN.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38328" y="4498848"/>
            <a:ext cx="3977640" cy="256032"/>
          </a:xfrm>
          <a:prstGeom prst="rect">
            <a:avLst/>
          </a:prstGeom>
          <a:solidFill>
            <a:srgbClr val="0E5C8A">
              <a:alpha val="3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8328" y="4498848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Impacto: Bilhões de eventos/dia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81728" y="3017520"/>
            <a:ext cx="4224528" cy="1828800"/>
          </a:xfrm>
          <a:prstGeom prst="rect">
            <a:avLst/>
          </a:prstGeom>
          <a:solidFill>
            <a:srgbClr val="1E3A5F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81728" y="3017520"/>
            <a:ext cx="4224528" cy="438912"/>
          </a:xfrm>
          <a:prstGeom prst="rect">
            <a:avLst/>
          </a:prstGeom>
          <a:solidFill>
            <a:srgbClr val="22D3EE">
              <a:alpha val="75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91456" y="301752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/ Facebook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7424928" y="3108960"/>
            <a:ext cx="1371600" cy="256032"/>
          </a:xfrm>
          <a:prstGeom prst="rect">
            <a:avLst/>
          </a:prstGeom>
          <a:solidFill>
            <a:srgbClr val="22D3EE">
              <a:alpha val="6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24928" y="31089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Parquet + Presto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791456" y="3529584"/>
            <a:ext cx="3977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 e analisa o data lake com exabytes de logs de usuários, anúncios e interações. Presto faz queries SQL direto nos arquivos Parquet no HDFS.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91456" y="4498848"/>
            <a:ext cx="3977640" cy="256032"/>
          </a:xfrm>
          <a:prstGeom prst="rect">
            <a:avLst/>
          </a:prstGeom>
          <a:solidFill>
            <a:srgbClr val="22D3EE">
              <a:alpha val="3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91456" y="4498848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Impacto: Exabytes processados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  <p:bldP spid="12" grpId="0" animBg="1"/>
      <p:bldP spid="15" grpId="0" animBg="1"/>
      <p:bldP spid="17" grpId="0" animBg="1"/>
      <p:bldP spid="18" grpId="0" animBg="1"/>
      <p:bldP spid="20" grpId="0" animBg="1"/>
      <p:bldP spid="23" grpId="0" animBg="1"/>
      <p:bldP spid="25" grpId="0" animBg="1"/>
      <p:bldP spid="26" grpId="0" animBg="1"/>
      <p:bldP spid="28" grpId="0" animBg="1"/>
      <p:bldP spid="31" grpId="0" animBg="1"/>
      <p:bldP spid="33" grpId="0" animBg="1"/>
      <p:bldP spid="34" grpId="0" animBg="1"/>
      <p:bldP spid="3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1992</Words>
  <Application>Microsoft Office PowerPoint</Application>
  <PresentationFormat>Apresentação na tela (16:9)</PresentationFormat>
  <Paragraphs>301</Paragraphs>
  <Slides>13</Slides>
  <Notes>13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Consolas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Banco de Dados Orientados a Coluna</dc:title>
  <dc:subject>PptxGenJS Presentation</dc:subject>
  <dc:creator>PptxGenJS</dc:creator>
  <cp:lastModifiedBy>Wagner Ramos Toth</cp:lastModifiedBy>
  <cp:revision>2</cp:revision>
  <dcterms:created xsi:type="dcterms:W3CDTF">2026-03-17T23:56:30Z</dcterms:created>
  <dcterms:modified xsi:type="dcterms:W3CDTF">2026-03-18T00:12:22Z</dcterms:modified>
</cp:coreProperties>
</file>